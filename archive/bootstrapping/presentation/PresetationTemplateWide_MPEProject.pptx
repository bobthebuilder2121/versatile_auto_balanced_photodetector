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29" r:id="rId1"/>
    <p:sldMasterId id="2147483736" r:id="rId2"/>
  </p:sldMasterIdLst>
  <p:notesMasterIdLst>
    <p:notesMasterId r:id="rId15"/>
  </p:notesMasterIdLst>
  <p:handoutMasterIdLst>
    <p:handoutMasterId r:id="rId16"/>
  </p:handoutMasterIdLst>
  <p:sldIdLst>
    <p:sldId id="256" r:id="rId3"/>
    <p:sldId id="315" r:id="rId4"/>
    <p:sldId id="314" r:id="rId5"/>
    <p:sldId id="316" r:id="rId6"/>
    <p:sldId id="317" r:id="rId7"/>
    <p:sldId id="318" r:id="rId8"/>
    <p:sldId id="320" r:id="rId9"/>
    <p:sldId id="322" r:id="rId10"/>
    <p:sldId id="323" r:id="rId11"/>
    <p:sldId id="325" r:id="rId12"/>
    <p:sldId id="324" r:id="rId13"/>
    <p:sldId id="319" r:id="rId14"/>
  </p:sldIdLst>
  <p:sldSz cx="12192000" cy="6858000"/>
  <p:notesSz cx="6808788" cy="9940925"/>
  <p:embeddedFontLst>
    <p:embeddedFont>
      <p:font typeface="Segoe UI" panose="020B0502040204020203" pitchFamily="34" charset="0"/>
      <p:regular r:id="rId17"/>
      <p:bold r:id="rId18"/>
      <p:italic r:id="rId19"/>
      <p:boldItalic r:id="rId20"/>
    </p:embeddedFont>
    <p:embeddedFont>
      <p:font typeface="Tahoma" panose="020B0604030504040204" pitchFamily="34" charset="0"/>
      <p:regular r:id="rId21"/>
      <p:bold r:id="rId22"/>
    </p:embeddedFont>
    <p:embeddedFont>
      <p:font typeface="Wingdings 2" pitchFamily="2" charset="2"/>
      <p:regular r:id="rId23"/>
    </p:embeddedFont>
  </p:embeddedFontLst>
  <p:defaultTextStyle>
    <a:defPPr>
      <a:defRPr lang="de-A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6" autoAdjust="0"/>
    <p:restoredTop sz="82838"/>
  </p:normalViewPr>
  <p:slideViewPr>
    <p:cSldViewPr snapToGrid="0">
      <p:cViewPr varScale="1">
        <p:scale>
          <a:sx n="132" d="100"/>
          <a:sy n="132" d="100"/>
        </p:scale>
        <p:origin x="76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1" d="100"/>
          <a:sy n="111" d="100"/>
        </p:scale>
        <p:origin x="4560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28C7F55-CEAA-FB8F-760F-4D7AE1E851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5E08BE-E3D8-604B-81DA-6BBDC4FBB4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588A5-38CA-A44B-8CB6-93330926D680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A6F627-5512-AEDC-B355-953849428C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245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2C3213-F462-C46A-42B6-21F436B1ED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245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96D01-3F12-C445-B6EF-5898C1E5E0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02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12A01-DE7E-8949-B499-57570D592B0E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46712" cy="39131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245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6038" y="944245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A3166-A283-CC4E-8D32-D736071F4C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1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afternoon</a:t>
            </a:r>
            <a:r>
              <a:rPr lang="de-DE" dirty="0"/>
              <a:t>. </a:t>
            </a:r>
            <a:r>
              <a:rPr lang="de-DE" dirty="0" err="1"/>
              <a:t>I'm</a:t>
            </a:r>
            <a:r>
              <a:rPr lang="de-DE" dirty="0"/>
              <a:t> </a:t>
            </a:r>
            <a:r>
              <a:rPr lang="de-DE" dirty="0" err="1"/>
              <a:t>presenting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interim</a:t>
            </a:r>
            <a:r>
              <a:rPr lang="de-DE" dirty="0"/>
              <a:t> </a:t>
            </a:r>
            <a:r>
              <a:rPr lang="de-DE" dirty="0" err="1"/>
              <a:t>status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on an auto-</a:t>
            </a:r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photodetector</a:t>
            </a:r>
            <a:r>
              <a:rPr lang="de-DE" dirty="0"/>
              <a:t> front-end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a </a:t>
            </a:r>
            <a:r>
              <a:rPr lang="de-DE" dirty="0" err="1"/>
              <a:t>bootstrap</a:t>
            </a:r>
            <a:r>
              <a:rPr lang="de-DE" dirty="0"/>
              <a:t> </a:t>
            </a:r>
            <a:r>
              <a:rPr lang="de-DE" dirty="0" err="1"/>
              <a:t>mechanism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support a </a:t>
            </a:r>
            <a:r>
              <a:rPr lang="de-DE" dirty="0" err="1"/>
              <a:t>wide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photodiodes</a:t>
            </a:r>
            <a:r>
              <a:rPr lang="de-DE" dirty="0"/>
              <a:t> in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20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"Optical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demanding</a:t>
            </a:r>
            <a:r>
              <a:rPr lang="de-DE" dirty="0"/>
              <a:t> </a:t>
            </a:r>
            <a:r>
              <a:rPr lang="de-DE" dirty="0" err="1"/>
              <a:t>fields</a:t>
            </a:r>
            <a:r>
              <a:rPr lang="de-DE" dirty="0"/>
              <a:t> — </a:t>
            </a:r>
            <a:r>
              <a:rPr lang="de-DE" dirty="0" err="1"/>
              <a:t>spectroscopy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a </a:t>
            </a:r>
            <a:r>
              <a:rPr lang="de-DE" dirty="0" err="1"/>
              <a:t>faint</a:t>
            </a:r>
            <a:r>
              <a:rPr lang="de-DE" dirty="0"/>
              <a:t> </a:t>
            </a:r>
            <a:r>
              <a:rPr lang="de-DE" dirty="0" err="1"/>
              <a:t>absorption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sits</a:t>
            </a:r>
            <a:r>
              <a:rPr lang="de-DE" dirty="0"/>
              <a:t> on </a:t>
            </a:r>
            <a:r>
              <a:rPr lang="de-DE" dirty="0" err="1"/>
              <a:t>noisy</a:t>
            </a:r>
            <a:r>
              <a:rPr lang="de-DE" dirty="0"/>
              <a:t> </a:t>
            </a:r>
            <a:r>
              <a:rPr lang="de-DE" dirty="0" err="1"/>
              <a:t>laser</a:t>
            </a:r>
            <a:r>
              <a:rPr lang="de-DE" dirty="0"/>
              <a:t> light, OCT </a:t>
            </a:r>
            <a:r>
              <a:rPr lang="de-DE" dirty="0" err="1"/>
              <a:t>where</a:t>
            </a:r>
            <a:r>
              <a:rPr lang="de-DE" dirty="0"/>
              <a:t> an </a:t>
            </a:r>
            <a:r>
              <a:rPr lang="de-DE" dirty="0" err="1"/>
              <a:t>interferometric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rides</a:t>
            </a:r>
            <a:r>
              <a:rPr lang="de-DE" dirty="0"/>
              <a:t> on a </a:t>
            </a:r>
            <a:r>
              <a:rPr lang="de-DE" dirty="0" err="1"/>
              <a:t>dominating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component</a:t>
            </a:r>
            <a:r>
              <a:rPr lang="de-DE" dirty="0"/>
              <a:t>, LIDAR </a:t>
            </a:r>
            <a:r>
              <a:rPr lang="de-DE" dirty="0" err="1"/>
              <a:t>where</a:t>
            </a:r>
            <a:r>
              <a:rPr lang="de-DE" dirty="0"/>
              <a:t> a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reflected</a:t>
            </a:r>
            <a:r>
              <a:rPr lang="de-DE" dirty="0"/>
              <a:t> pulse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separated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strong </a:t>
            </a:r>
            <a:r>
              <a:rPr lang="de-DE" dirty="0" err="1"/>
              <a:t>background</a:t>
            </a:r>
            <a:r>
              <a:rPr lang="de-DE" dirty="0"/>
              <a:t> light, and </a:t>
            </a:r>
            <a:r>
              <a:rPr lang="de-DE" dirty="0" err="1"/>
              <a:t>quantum</a:t>
            </a:r>
            <a:r>
              <a:rPr lang="de-DE" dirty="0"/>
              <a:t> </a:t>
            </a:r>
            <a:r>
              <a:rPr lang="de-DE" dirty="0" err="1"/>
              <a:t>experiments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single-photon-level </a:t>
            </a:r>
            <a:r>
              <a:rPr lang="de-DE" dirty="0" err="1"/>
              <a:t>signals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buried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laser</a:t>
            </a:r>
            <a:r>
              <a:rPr lang="de-DE" dirty="0"/>
              <a:t> </a:t>
            </a:r>
            <a:r>
              <a:rPr lang="de-DE" dirty="0" err="1"/>
              <a:t>excess</a:t>
            </a:r>
            <a:r>
              <a:rPr lang="de-DE" dirty="0"/>
              <a:t> </a:t>
            </a:r>
            <a:r>
              <a:rPr lang="de-DE" dirty="0" err="1"/>
              <a:t>noise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share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a </a:t>
            </a:r>
            <a:r>
              <a:rPr lang="de-DE" dirty="0" err="1"/>
              <a:t>wavelength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a </a:t>
            </a:r>
            <a:r>
              <a:rPr lang="de-DE" dirty="0" err="1"/>
              <a:t>bandwidth</a:t>
            </a:r>
            <a:r>
              <a:rPr lang="de-DE" dirty="0"/>
              <a:t> — </a:t>
            </a:r>
            <a:r>
              <a:rPr lang="de-DE" dirty="0" err="1"/>
              <a:t>it's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 err="1"/>
              <a:t>physics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: a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superimposed</a:t>
            </a:r>
            <a:r>
              <a:rPr lang="de-DE" dirty="0"/>
              <a:t> on a </a:t>
            </a:r>
            <a:r>
              <a:rPr lang="de-DE" dirty="0" err="1"/>
              <a:t>much</a:t>
            </a:r>
            <a:r>
              <a:rPr lang="de-DE" dirty="0"/>
              <a:t> larger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optical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.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photodiode</a:t>
            </a:r>
            <a:r>
              <a:rPr lang="de-DE" dirty="0"/>
              <a:t> </a:t>
            </a:r>
            <a:r>
              <a:rPr lang="de-DE" dirty="0" err="1"/>
              <a:t>followed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 </a:t>
            </a:r>
            <a:r>
              <a:rPr lang="de-DE" dirty="0" err="1"/>
              <a:t>transimpedance</a:t>
            </a:r>
            <a:r>
              <a:rPr lang="de-DE" dirty="0"/>
              <a:t> </a:t>
            </a:r>
            <a:r>
              <a:rPr lang="de-DE" dirty="0" err="1"/>
              <a:t>amplifier</a:t>
            </a:r>
            <a:r>
              <a:rPr lang="de-DE" dirty="0"/>
              <a:t> 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extract</a:t>
            </a:r>
            <a:r>
              <a:rPr lang="de-DE" dirty="0"/>
              <a:t> it."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471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follow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i="1" dirty="0" err="1"/>
              <a:t>common</a:t>
            </a:r>
            <a:r>
              <a:rPr lang="de-DE" i="1" dirty="0"/>
              <a:t>-mode </a:t>
            </a:r>
            <a:r>
              <a:rPr lang="de-DE" i="1" dirty="0" err="1"/>
              <a:t>rejection</a:t>
            </a:r>
            <a:r>
              <a:rPr lang="de-DE" i="1" dirty="0"/>
              <a:t> at </a:t>
            </a:r>
            <a:r>
              <a:rPr lang="de-DE" i="1" dirty="0" err="1"/>
              <a:t>the</a:t>
            </a:r>
            <a:r>
              <a:rPr lang="de-DE" i="1" dirty="0"/>
              <a:t> front-end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matched</a:t>
            </a:r>
            <a:r>
              <a:rPr lang="de-DE" dirty="0"/>
              <a:t> </a:t>
            </a:r>
            <a:r>
              <a:rPr lang="de-DE" dirty="0" err="1"/>
              <a:t>photodiodes</a:t>
            </a:r>
            <a:r>
              <a:rPr lang="de-DE" dirty="0"/>
              <a:t>, </a:t>
            </a:r>
            <a:r>
              <a:rPr lang="de-DE" dirty="0" err="1"/>
              <a:t>illuminated</a:t>
            </a:r>
            <a:r>
              <a:rPr lang="de-DE" dirty="0"/>
              <a:t> such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signals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antiphase</a:t>
            </a:r>
            <a:r>
              <a:rPr lang="de-DE" dirty="0"/>
              <a:t> and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light </a:t>
            </a:r>
            <a:r>
              <a:rPr lang="de-DE" dirty="0" err="1"/>
              <a:t>is</a:t>
            </a:r>
            <a:r>
              <a:rPr lang="de-DE" dirty="0"/>
              <a:t> in </a:t>
            </a:r>
            <a:r>
              <a:rPr lang="de-DE" dirty="0" err="1"/>
              <a:t>phase</a:t>
            </a:r>
            <a:r>
              <a:rPr lang="de-DE" dirty="0"/>
              <a:t>, and </a:t>
            </a:r>
            <a:r>
              <a:rPr lang="de-DE" dirty="0" err="1"/>
              <a:t>subtract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at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amplification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cancels</a:t>
            </a:r>
            <a:r>
              <a:rPr lang="de-DE" dirty="0"/>
              <a:t> and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TIA. 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i="1" dirty="0" err="1"/>
              <a:t>balanced</a:t>
            </a:r>
            <a:r>
              <a:rPr lang="de-DE" i="1" dirty="0"/>
              <a:t> </a:t>
            </a:r>
            <a:r>
              <a:rPr lang="de-DE" i="1" dirty="0" err="1"/>
              <a:t>detection</a:t>
            </a:r>
            <a:r>
              <a:rPr lang="de-DE" dirty="0"/>
              <a:t>,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addresses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requirement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i="1" dirty="0" err="1"/>
              <a:t>flexibility</a:t>
            </a:r>
            <a:r>
              <a:rPr lang="de-DE" dirty="0"/>
              <a:t>.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a different </a:t>
            </a:r>
            <a:r>
              <a:rPr lang="de-DE" dirty="0" err="1"/>
              <a:t>photodiode</a:t>
            </a:r>
            <a:r>
              <a:rPr lang="de-DE" dirty="0"/>
              <a:t> — PINs </a:t>
            </a:r>
            <a:r>
              <a:rPr lang="de-DE" dirty="0" err="1"/>
              <a:t>for</a:t>
            </a:r>
            <a:r>
              <a:rPr lang="de-DE" dirty="0"/>
              <a:t> robust </a:t>
            </a:r>
            <a:r>
              <a:rPr lang="de-DE" dirty="0" err="1"/>
              <a:t>wideband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, APDs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-light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internal </a:t>
            </a:r>
            <a:r>
              <a:rPr lang="de-DE" dirty="0" err="1"/>
              <a:t>gain</a:t>
            </a:r>
            <a:r>
              <a:rPr lang="de-DE" dirty="0"/>
              <a:t>, different </a:t>
            </a:r>
            <a:r>
              <a:rPr lang="de-DE" dirty="0" err="1"/>
              <a:t>materials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wavelengths</a:t>
            </a:r>
            <a:r>
              <a:rPr lang="de-DE" dirty="0"/>
              <a:t>, </a:t>
            </a:r>
            <a:r>
              <a:rPr lang="de-DE" dirty="0" err="1"/>
              <a:t>bandwidths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megahertz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hundreds</a:t>
            </a:r>
            <a:r>
              <a:rPr lang="de-DE" dirty="0"/>
              <a:t>, and </a:t>
            </a:r>
            <a:r>
              <a:rPr lang="de-DE" dirty="0" err="1"/>
              <a:t>effective</a:t>
            </a:r>
            <a:r>
              <a:rPr lang="de-DE" dirty="0"/>
              <a:t> </a:t>
            </a:r>
            <a:r>
              <a:rPr lang="de-DE" dirty="0" err="1"/>
              <a:t>responsivities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span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orders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magnitude</a:t>
            </a:r>
            <a:r>
              <a:rPr lang="de-DE" dirty="0"/>
              <a:t>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APD </a:t>
            </a:r>
            <a:r>
              <a:rPr lang="de-DE" dirty="0" err="1"/>
              <a:t>gain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serves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—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detector</a:t>
            </a:r>
            <a:r>
              <a:rPr lang="de-DE" dirty="0"/>
              <a:t> per </a:t>
            </a:r>
            <a:r>
              <a:rPr lang="de-DE" dirty="0" err="1"/>
              <a:t>application</a:t>
            </a:r>
            <a:r>
              <a:rPr lang="de-DE" dirty="0"/>
              <a:t> —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accept</a:t>
            </a:r>
            <a:r>
              <a:rPr lang="de-DE" dirty="0"/>
              <a:t> all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diodes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redesign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These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— </a:t>
            </a:r>
            <a:r>
              <a:rPr lang="de-DE" i="1" dirty="0" err="1"/>
              <a:t>common</a:t>
            </a:r>
            <a:r>
              <a:rPr lang="de-DE" i="1" dirty="0"/>
              <a:t>-mode </a:t>
            </a:r>
            <a:r>
              <a:rPr lang="de-DE" i="1" dirty="0" err="1"/>
              <a:t>rejection</a:t>
            </a:r>
            <a:r>
              <a:rPr lang="de-DE" dirty="0"/>
              <a:t> and </a:t>
            </a:r>
            <a:r>
              <a:rPr lang="de-DE" i="1" dirty="0" err="1"/>
              <a:t>diode</a:t>
            </a:r>
            <a:r>
              <a:rPr lang="de-DE" i="1" dirty="0"/>
              <a:t>-independent </a:t>
            </a:r>
            <a:r>
              <a:rPr lang="de-DE" i="1" dirty="0" err="1"/>
              <a:t>flexibility</a:t>
            </a:r>
            <a:r>
              <a:rPr lang="de-DE" dirty="0"/>
              <a:t> — </a:t>
            </a:r>
            <a:r>
              <a:rPr lang="de-DE" dirty="0" err="1"/>
              <a:t>shape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764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259E-F756-5437-1B78-261E7A5E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C9B4DF-699F-CCEB-36E3-590F25458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9CA5FD-245E-AEB0-F4C7-6D81DAEE6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.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photodiodes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stacked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 positive and a negative high-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rail</a:t>
            </a:r>
            <a:r>
              <a:rPr lang="de-DE" dirty="0"/>
              <a:t>.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a DC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 and an AC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carrying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— </a:t>
            </a:r>
            <a:r>
              <a:rPr lang="de-DE" dirty="0" err="1"/>
              <a:t>antiphase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diodes</a:t>
            </a:r>
            <a:r>
              <a:rPr lang="de-DE" dirty="0"/>
              <a:t>.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middle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</a:t>
            </a:r>
            <a:r>
              <a:rPr lang="de-DE" dirty="0" err="1"/>
              <a:t>meet</a:t>
            </a:r>
            <a:r>
              <a:rPr lang="de-DE" dirty="0"/>
              <a:t> and </a:t>
            </a:r>
            <a:r>
              <a:rPr lang="de-DE" dirty="0" err="1"/>
              <a:t>subtract</a:t>
            </a:r>
            <a:r>
              <a:rPr lang="de-DE" dirty="0"/>
              <a:t>: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TIA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i="1" dirty="0"/>
              <a:t>I₁ minus I₂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twice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AC </a:t>
            </a:r>
            <a:r>
              <a:rPr lang="de-DE" dirty="0" err="1"/>
              <a:t>signal</a:t>
            </a:r>
            <a:r>
              <a:rPr lang="de-DE" dirty="0"/>
              <a:t>,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DC </a:t>
            </a:r>
            <a:r>
              <a:rPr lang="de-DE" dirty="0" err="1"/>
              <a:t>cancels</a:t>
            </a:r>
            <a:r>
              <a:rPr lang="de-DE" dirty="0"/>
              <a:t>.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balanced-detection</a:t>
            </a:r>
            <a:r>
              <a:rPr lang="de-DE" dirty="0"/>
              <a:t> </a:t>
            </a:r>
            <a:r>
              <a:rPr lang="de-DE" dirty="0" err="1"/>
              <a:t>requirement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, </a:t>
            </a:r>
            <a:r>
              <a:rPr lang="de-DE" dirty="0" err="1"/>
              <a:t>realised</a:t>
            </a:r>
            <a:r>
              <a:rPr lang="de-DE" dirty="0"/>
              <a:t> in </a:t>
            </a:r>
            <a:r>
              <a:rPr lang="de-DE" dirty="0" err="1"/>
              <a:t>hardware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The block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senses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front-end and </a:t>
            </a:r>
            <a:r>
              <a:rPr lang="de-DE" dirty="0" err="1"/>
              <a:t>drives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</a:t>
            </a:r>
            <a:r>
              <a:rPr lang="de-DE" i="1" dirty="0"/>
              <a:t>V_D1</a:t>
            </a:r>
            <a:r>
              <a:rPr lang="de-DE" dirty="0"/>
              <a:t> and </a:t>
            </a:r>
            <a:r>
              <a:rPr lang="de-DE" i="1" dirty="0"/>
              <a:t>V_D2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at </a:t>
            </a:r>
            <a:r>
              <a:rPr lang="de-DE" dirty="0" err="1"/>
              <a:t>once</a:t>
            </a:r>
            <a:r>
              <a:rPr lang="de-DE" dirty="0"/>
              <a:t>: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keeps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</a:t>
            </a:r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diodes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</a:t>
            </a:r>
            <a:r>
              <a:rPr lang="de-DE" dirty="0" err="1"/>
              <a:t>perfectly</a:t>
            </a:r>
            <a:r>
              <a:rPr lang="de-DE" dirty="0"/>
              <a:t> </a:t>
            </a:r>
            <a:r>
              <a:rPr lang="de-DE" dirty="0" err="1"/>
              <a:t>matched</a:t>
            </a:r>
            <a:r>
              <a:rPr lang="de-DE" dirty="0"/>
              <a:t>,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i="1" dirty="0"/>
              <a:t>bootstraps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so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diodes</a:t>
            </a:r>
            <a:r>
              <a:rPr lang="de-DE" dirty="0"/>
              <a:t>' reverse </a:t>
            </a:r>
            <a:r>
              <a:rPr lang="de-DE" dirty="0" err="1"/>
              <a:t>voltages</a:t>
            </a:r>
            <a:r>
              <a:rPr lang="de-DE" dirty="0"/>
              <a:t> </a:t>
            </a:r>
            <a:r>
              <a:rPr lang="de-DE" dirty="0" err="1"/>
              <a:t>stay</a:t>
            </a:r>
            <a:r>
              <a:rPr lang="de-DE" dirty="0"/>
              <a:t> well-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internal </a:t>
            </a:r>
            <a:r>
              <a:rPr lang="de-DE" dirty="0" err="1"/>
              <a:t>nodes</a:t>
            </a:r>
            <a:r>
              <a:rPr lang="de-DE" dirty="0"/>
              <a:t> swing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. This </a:t>
            </a:r>
            <a:r>
              <a:rPr lang="de-DE" dirty="0" err="1"/>
              <a:t>active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satisfies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flexibility</a:t>
            </a:r>
            <a:r>
              <a:rPr lang="de-DE" dirty="0"/>
              <a:t> </a:t>
            </a:r>
            <a:r>
              <a:rPr lang="de-DE" dirty="0" err="1"/>
              <a:t>requirement</a:t>
            </a:r>
            <a:r>
              <a:rPr lang="de-DE" dirty="0"/>
              <a:t>: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dynamically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host PINs </a:t>
            </a:r>
            <a:r>
              <a:rPr lang="de-DE" dirty="0" err="1"/>
              <a:t>or</a:t>
            </a:r>
            <a:r>
              <a:rPr lang="de-DE" dirty="0"/>
              <a:t> APDs, at different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levels</a:t>
            </a:r>
            <a:r>
              <a:rPr lang="de-DE" dirty="0"/>
              <a:t>,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F61649-2D24-1663-5297-24F4890A9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815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"This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conceptually</a:t>
            </a:r>
            <a:r>
              <a:rPr lang="de-DE" dirty="0"/>
              <a:t> elegant, but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trivial. The </a:t>
            </a:r>
            <a:r>
              <a:rPr lang="de-DE" dirty="0" err="1"/>
              <a:t>photocurrents</a:t>
            </a:r>
            <a:r>
              <a:rPr lang="de-DE" dirty="0"/>
              <a:t> span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orders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magnitude</a:t>
            </a:r>
            <a:r>
              <a:rPr lang="de-DE" dirty="0"/>
              <a:t>;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loop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fast </a:t>
            </a:r>
            <a:r>
              <a:rPr lang="de-DE" dirty="0" err="1"/>
              <a:t>enough</a:t>
            </a:r>
            <a:r>
              <a:rPr lang="de-DE" dirty="0"/>
              <a:t> not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attenuate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, </a:t>
            </a:r>
            <a:r>
              <a:rPr lang="de-DE" dirty="0" err="1"/>
              <a:t>yet</a:t>
            </a:r>
            <a:r>
              <a:rPr lang="de-DE" dirty="0"/>
              <a:t> slow </a:t>
            </a:r>
            <a:r>
              <a:rPr lang="de-DE" dirty="0" err="1"/>
              <a:t>enough</a:t>
            </a:r>
            <a:r>
              <a:rPr lang="de-DE" dirty="0"/>
              <a:t> not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destabilise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TIA;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capacitance</a:t>
            </a:r>
            <a:r>
              <a:rPr lang="de-DE" dirty="0"/>
              <a:t> and </a:t>
            </a:r>
            <a:r>
              <a:rPr lang="de-DE" dirty="0" err="1"/>
              <a:t>layout</a:t>
            </a:r>
            <a:r>
              <a:rPr lang="de-DE" dirty="0"/>
              <a:t> </a:t>
            </a:r>
            <a:r>
              <a:rPr lang="de-DE" dirty="0" err="1"/>
              <a:t>parasitics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shape</a:t>
            </a:r>
            <a:r>
              <a:rPr lang="de-DE" dirty="0"/>
              <a:t> loop </a:t>
            </a:r>
            <a:r>
              <a:rPr lang="de-DE" dirty="0" err="1"/>
              <a:t>behaviour</a:t>
            </a:r>
            <a:r>
              <a:rPr lang="de-DE" dirty="0"/>
              <a:t>; CMRR </a:t>
            </a:r>
            <a:r>
              <a:rPr lang="de-DE" dirty="0" err="1"/>
              <a:t>depends</a:t>
            </a:r>
            <a:r>
              <a:rPr lang="de-DE" dirty="0"/>
              <a:t> not </a:t>
            </a:r>
            <a:r>
              <a:rPr lang="de-DE" dirty="0" err="1"/>
              <a:t>only</a:t>
            </a:r>
            <a:r>
              <a:rPr lang="de-DE" dirty="0"/>
              <a:t> on </a:t>
            </a:r>
            <a:r>
              <a:rPr lang="de-DE" dirty="0" err="1"/>
              <a:t>matching</a:t>
            </a:r>
            <a:r>
              <a:rPr lang="de-DE" dirty="0"/>
              <a:t> but also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loop's</a:t>
            </a:r>
            <a:r>
              <a:rPr lang="de-DE" dirty="0"/>
              <a:t> </a:t>
            </a:r>
            <a:r>
              <a:rPr lang="de-DE" dirty="0" err="1"/>
              <a:t>bandwidth</a:t>
            </a:r>
            <a:r>
              <a:rPr lang="de-DE" dirty="0"/>
              <a:t>; and large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swings</a:t>
            </a:r>
            <a:r>
              <a:rPr lang="de-DE" dirty="0"/>
              <a:t> stress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.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achievable</a:t>
            </a:r>
            <a:r>
              <a:rPr lang="de-DE" dirty="0"/>
              <a:t> and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others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approached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, I </a:t>
            </a:r>
            <a:r>
              <a:rPr lang="de-DE" dirty="0" err="1"/>
              <a:t>looked</a:t>
            </a:r>
            <a:r>
              <a:rPr lang="de-DE" dirty="0"/>
              <a:t> at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commercial</a:t>
            </a:r>
            <a:r>
              <a:rPr lang="de-DE" dirty="0"/>
              <a:t> </a:t>
            </a:r>
            <a:r>
              <a:rPr lang="de-DE" dirty="0" err="1"/>
              <a:t>solutions</a:t>
            </a:r>
            <a:r>
              <a:rPr lang="de-DE" dirty="0"/>
              <a:t> and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bootstrap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868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"Commercial auto-</a:t>
            </a:r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detectors</a:t>
            </a:r>
            <a:r>
              <a:rPr lang="de-DE" dirty="0"/>
              <a:t> </a:t>
            </a:r>
            <a:r>
              <a:rPr lang="de-DE" dirty="0" err="1"/>
              <a:t>reach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rejection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roughly</a:t>
            </a:r>
            <a:r>
              <a:rPr lang="de-DE" dirty="0"/>
              <a:t> 25 and 50 dB, at </a:t>
            </a:r>
            <a:r>
              <a:rPr lang="de-DE" dirty="0" err="1"/>
              <a:t>bandwidths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kilohertz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hundred</a:t>
            </a:r>
            <a:r>
              <a:rPr lang="de-DE" dirty="0"/>
              <a:t> </a:t>
            </a:r>
            <a:r>
              <a:rPr lang="de-DE" dirty="0" err="1"/>
              <a:t>megahertz</a:t>
            </a:r>
            <a:r>
              <a:rPr lang="de-DE" dirty="0"/>
              <a:t>.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products</a:t>
            </a:r>
            <a:r>
              <a:rPr lang="de-DE" dirty="0"/>
              <a:t>, </a:t>
            </a: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hard-wired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photodiode</a:t>
            </a:r>
            <a:r>
              <a:rPr lang="de-DE" dirty="0"/>
              <a:t>: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,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network,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subtraction</a:t>
            </a:r>
            <a:r>
              <a:rPr lang="de-DE" dirty="0"/>
              <a:t> </a:t>
            </a:r>
            <a:r>
              <a:rPr lang="de-DE" dirty="0" err="1"/>
              <a:t>stage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co-designed</a:t>
            </a:r>
            <a:r>
              <a:rPr lang="de-DE" dirty="0"/>
              <a:t>. </a:t>
            </a:r>
            <a:r>
              <a:rPr lang="de-DE" dirty="0" err="1"/>
              <a:t>Replacing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redesigning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front-end —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precisely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flexibility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tries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338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"The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a </a:t>
            </a:r>
            <a:r>
              <a:rPr lang="de-DE" dirty="0" err="1"/>
              <a:t>consistent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bootstrapping </a:t>
            </a:r>
            <a:r>
              <a:rPr lang="de-DE" dirty="0" err="1"/>
              <a:t>works</a:t>
            </a:r>
            <a:r>
              <a:rPr lang="de-DE" dirty="0"/>
              <a:t> and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breaks</a:t>
            </a:r>
            <a:r>
              <a:rPr lang="de-DE" dirty="0"/>
              <a:t>. The </a:t>
            </a:r>
            <a:r>
              <a:rPr lang="de-DE" dirty="0" err="1"/>
              <a:t>principle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rails</a:t>
            </a:r>
            <a:r>
              <a:rPr lang="de-DE" dirty="0"/>
              <a:t> follow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multiplies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usable</a:t>
            </a:r>
            <a:r>
              <a:rPr lang="de-DE" dirty="0"/>
              <a:t> swing. </a:t>
            </a:r>
            <a:r>
              <a:rPr lang="de-DE" dirty="0" err="1"/>
              <a:t>Several</a:t>
            </a:r>
            <a:r>
              <a:rPr lang="de-DE" dirty="0"/>
              <a:t> design </a:t>
            </a:r>
            <a:r>
              <a:rPr lang="de-DE" dirty="0" err="1"/>
              <a:t>constraints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repeated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all </a:t>
            </a:r>
            <a:r>
              <a:rPr lang="de-DE" dirty="0" err="1"/>
              <a:t>references</a:t>
            </a:r>
            <a:r>
              <a:rPr lang="de-DE" dirty="0"/>
              <a:t>: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bootstrap</a:t>
            </a:r>
            <a:r>
              <a:rPr lang="de-DE" dirty="0"/>
              <a:t> loop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; </a:t>
            </a:r>
            <a:r>
              <a:rPr lang="de-DE" dirty="0" err="1"/>
              <a:t>the</a:t>
            </a:r>
            <a:r>
              <a:rPr lang="de-DE" dirty="0"/>
              <a:t> FET </a:t>
            </a:r>
            <a:r>
              <a:rPr lang="de-DE" dirty="0" err="1"/>
              <a:t>gate</a:t>
            </a:r>
            <a:r>
              <a:rPr lang="de-DE" dirty="0"/>
              <a:t> </a:t>
            </a:r>
            <a:r>
              <a:rPr lang="de-DE" dirty="0" err="1"/>
              <a:t>capacitance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resistors</a:t>
            </a:r>
            <a:r>
              <a:rPr lang="de-DE" dirty="0"/>
              <a:t> </a:t>
            </a:r>
            <a:r>
              <a:rPr lang="de-DE" dirty="0" err="1"/>
              <a:t>builds</a:t>
            </a:r>
            <a:r>
              <a:rPr lang="de-DE" dirty="0"/>
              <a:t> a </a:t>
            </a:r>
            <a:r>
              <a:rPr lang="de-DE" dirty="0" err="1"/>
              <a:t>low</a:t>
            </a:r>
            <a:r>
              <a:rPr lang="de-DE" dirty="0"/>
              <a:t>-pass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limits</a:t>
            </a:r>
            <a:r>
              <a:rPr lang="de-DE" dirty="0"/>
              <a:t> loop </a:t>
            </a:r>
            <a:r>
              <a:rPr lang="de-DE" dirty="0" err="1"/>
              <a:t>speed</a:t>
            </a:r>
            <a:r>
              <a:rPr lang="de-DE" dirty="0"/>
              <a:t>; and — an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overlooked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—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bypassing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tie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flying</a:t>
            </a:r>
            <a:r>
              <a:rPr lang="de-DE" dirty="0"/>
              <a:t> </a:t>
            </a:r>
            <a:r>
              <a:rPr lang="de-DE" dirty="0" err="1"/>
              <a:t>rails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. The </a:t>
            </a:r>
            <a:r>
              <a:rPr lang="de-DE" dirty="0" err="1"/>
              <a:t>literature</a:t>
            </a:r>
            <a:r>
              <a:rPr lang="de-DE" dirty="0"/>
              <a:t> also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a bootstrap-</a:t>
            </a:r>
            <a:r>
              <a:rPr lang="de-DE" dirty="0" err="1"/>
              <a:t>capable</a:t>
            </a:r>
            <a:r>
              <a:rPr lang="de-DE" dirty="0"/>
              <a:t>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: high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,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rails</a:t>
            </a:r>
            <a:r>
              <a:rPr lang="de-DE" dirty="0"/>
              <a:t>, a </a:t>
            </a:r>
            <a:r>
              <a:rPr lang="de-DE" dirty="0" err="1"/>
              <a:t>sufficient</a:t>
            </a:r>
            <a:r>
              <a:rPr lang="de-DE" dirty="0"/>
              <a:t> </a:t>
            </a:r>
            <a:r>
              <a:rPr lang="de-DE" dirty="0" err="1"/>
              <a:t>slew</a:t>
            </a:r>
            <a:r>
              <a:rPr lang="de-DE" dirty="0"/>
              <a:t> rate,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, and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reversal</a:t>
            </a:r>
            <a:r>
              <a:rPr lang="de-DE" dirty="0"/>
              <a:t>. A quick check on </a:t>
            </a:r>
            <a:r>
              <a:rPr lang="de-DE" dirty="0" err="1"/>
              <a:t>the</a:t>
            </a:r>
            <a:r>
              <a:rPr lang="de-DE" dirty="0"/>
              <a:t> TLV9162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fits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, but </a:t>
            </a:r>
            <a:r>
              <a:rPr lang="de-DE" dirty="0" err="1"/>
              <a:t>its</a:t>
            </a:r>
            <a:r>
              <a:rPr lang="de-DE" dirty="0"/>
              <a:t> 16 V maximum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borderline</a:t>
            </a:r>
            <a:r>
              <a:rPr lang="de-DE" dirty="0"/>
              <a:t>.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documents</a:t>
            </a:r>
            <a:r>
              <a:rPr lang="de-DE" dirty="0"/>
              <a:t> </a:t>
            </a:r>
            <a:r>
              <a:rPr lang="de-DE" dirty="0" err="1"/>
              <a:t>complement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APD </a:t>
            </a:r>
            <a:r>
              <a:rPr lang="de-DE" dirty="0" err="1"/>
              <a:t>case</a:t>
            </a:r>
            <a:r>
              <a:rPr lang="de-DE" dirty="0"/>
              <a:t>: AN-241 on high-</a:t>
            </a:r>
            <a:r>
              <a:rPr lang="de-DE" dirty="0" err="1"/>
              <a:t>impedance</a:t>
            </a:r>
            <a:r>
              <a:rPr lang="de-DE" dirty="0"/>
              <a:t> design, </a:t>
            </a:r>
            <a:r>
              <a:rPr lang="de-DE" dirty="0" err="1"/>
              <a:t>directly</a:t>
            </a:r>
            <a:r>
              <a:rPr lang="de-DE" dirty="0"/>
              <a:t> relevant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photodetector</a:t>
            </a:r>
            <a:r>
              <a:rPr lang="de-DE" dirty="0"/>
              <a:t> front-end, and TIDUEW8, a TI </a:t>
            </a:r>
            <a:r>
              <a:rPr lang="de-DE" dirty="0" err="1"/>
              <a:t>reference</a:t>
            </a:r>
            <a:r>
              <a:rPr lang="de-DE" dirty="0"/>
              <a:t> design </a:t>
            </a:r>
            <a:r>
              <a:rPr lang="de-DE" dirty="0" err="1"/>
              <a:t>showing</a:t>
            </a:r>
            <a:r>
              <a:rPr lang="de-DE" dirty="0"/>
              <a:t> a real </a:t>
            </a:r>
            <a:r>
              <a:rPr lang="de-DE" dirty="0" err="1"/>
              <a:t>bootstrap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 and thermal </a:t>
            </a:r>
            <a:r>
              <a:rPr lang="de-DE" dirty="0" err="1"/>
              <a:t>constraints</a:t>
            </a:r>
            <a:r>
              <a:rPr lang="de-DE" dirty="0"/>
              <a:t>. </a:t>
            </a:r>
            <a:r>
              <a:rPr lang="de-DE" dirty="0" err="1"/>
              <a:t>Importantly</a:t>
            </a:r>
            <a:r>
              <a:rPr lang="de-DE" dirty="0"/>
              <a:t>, </a:t>
            </a:r>
            <a:r>
              <a:rPr lang="de-DE" dirty="0" err="1"/>
              <a:t>none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documents</a:t>
            </a:r>
            <a:r>
              <a:rPr lang="de-DE" dirty="0"/>
              <a:t> </a:t>
            </a:r>
            <a:r>
              <a:rPr lang="de-DE" dirty="0" err="1"/>
              <a:t>addresses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auto-</a:t>
            </a:r>
            <a:r>
              <a:rPr lang="de-DE" dirty="0" err="1"/>
              <a:t>balanced</a:t>
            </a:r>
            <a:r>
              <a:rPr lang="de-DE" dirty="0"/>
              <a:t> APD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—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defines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open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."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8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"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,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art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a bootstrap-</a:t>
            </a:r>
            <a:r>
              <a:rPr lang="de-DE" dirty="0" err="1"/>
              <a:t>based</a:t>
            </a:r>
            <a:r>
              <a:rPr lang="de-DE" dirty="0"/>
              <a:t> auto-</a:t>
            </a:r>
            <a:r>
              <a:rPr lang="de-DE" dirty="0" err="1"/>
              <a:t>balanced</a:t>
            </a:r>
            <a:r>
              <a:rPr lang="de-DE" dirty="0"/>
              <a:t> front-end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i="1" dirty="0" err="1"/>
              <a:t>single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supporting</a:t>
            </a:r>
            <a:r>
              <a:rPr lang="de-DE" dirty="0"/>
              <a:t> a </a:t>
            </a:r>
            <a:r>
              <a:rPr lang="de-DE" dirty="0" err="1"/>
              <a:t>broad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photodiodes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concrete</a:t>
            </a:r>
            <a:r>
              <a:rPr lang="de-DE" dirty="0"/>
              <a:t> sub-</a:t>
            </a:r>
            <a:r>
              <a:rPr lang="de-DE" dirty="0" err="1"/>
              <a:t>questions</a:t>
            </a:r>
            <a:r>
              <a:rPr lang="de-DE" dirty="0"/>
              <a:t> follow — </a:t>
            </a:r>
            <a:r>
              <a:rPr lang="de-DE" dirty="0" err="1"/>
              <a:t>partly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, </a:t>
            </a:r>
            <a:r>
              <a:rPr lang="de-DE" dirty="0" err="1"/>
              <a:t>partly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discussions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supervisor</a:t>
            </a:r>
            <a:r>
              <a:rPr lang="de-DE" dirty="0"/>
              <a:t>: </a:t>
            </a:r>
            <a:r>
              <a:rPr lang="de-DE" dirty="0" err="1"/>
              <a:t>first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bootstrap-loop </a:t>
            </a:r>
            <a:r>
              <a:rPr lang="de-DE" dirty="0" err="1"/>
              <a:t>bandwidth</a:t>
            </a:r>
            <a:r>
              <a:rPr lang="de-DE" dirty="0"/>
              <a:t> </a:t>
            </a:r>
            <a:r>
              <a:rPr lang="de-DE" dirty="0" err="1"/>
              <a:t>influences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CMRR; </a:t>
            </a:r>
            <a:r>
              <a:rPr lang="de-DE" dirty="0" err="1"/>
              <a:t>second</a:t>
            </a:r>
            <a:r>
              <a:rPr lang="de-DE" dirty="0"/>
              <a:t>,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APD reverse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</a:t>
            </a:r>
            <a:r>
              <a:rPr lang="de-DE" dirty="0" err="1"/>
              <a:t>constant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bootstrapped</a:t>
            </a:r>
            <a:r>
              <a:rPr lang="de-DE" dirty="0"/>
              <a:t>; </a:t>
            </a:r>
            <a:r>
              <a:rPr lang="de-DE" dirty="0" err="1"/>
              <a:t>third</a:t>
            </a:r>
            <a:r>
              <a:rPr lang="de-DE" dirty="0"/>
              <a:t>,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capacitance</a:t>
            </a:r>
            <a:r>
              <a:rPr lang="de-DE" dirty="0"/>
              <a:t> and </a:t>
            </a:r>
            <a:r>
              <a:rPr lang="de-DE" dirty="0" err="1"/>
              <a:t>parasitics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loop; and </a:t>
            </a:r>
            <a:r>
              <a:rPr lang="de-DE" dirty="0" err="1"/>
              <a:t>fourth</a:t>
            </a:r>
            <a:r>
              <a:rPr lang="de-DE" dirty="0"/>
              <a:t>,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auto-balance </a:t>
            </a:r>
            <a:r>
              <a:rPr lang="de-DE" dirty="0" err="1"/>
              <a:t>mechanism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compensate</a:t>
            </a:r>
            <a:r>
              <a:rPr lang="de-DE" dirty="0"/>
              <a:t> </a:t>
            </a:r>
            <a:r>
              <a:rPr lang="de-DE" dirty="0" err="1"/>
              <a:t>asymmetries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diodes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distorting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scope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interim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I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families</a:t>
            </a:r>
            <a:r>
              <a:rPr lang="de-DE" dirty="0"/>
              <a:t> — </a:t>
            </a:r>
            <a:r>
              <a:rPr lang="de-DE" dirty="0" err="1"/>
              <a:t>the</a:t>
            </a:r>
            <a:r>
              <a:rPr lang="de-DE" dirty="0"/>
              <a:t> Hamamatsu PIN and APD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lab, plus </a:t>
            </a:r>
            <a:r>
              <a:rPr lang="de-DE" dirty="0" err="1"/>
              <a:t>the</a:t>
            </a:r>
            <a:r>
              <a:rPr lang="de-DE" dirty="0"/>
              <a:t> Roithner PIN — </a:t>
            </a:r>
            <a:r>
              <a:rPr lang="de-DE" dirty="0" err="1"/>
              <a:t>modelled</a:t>
            </a:r>
            <a:r>
              <a:rPr lang="de-DE" dirty="0"/>
              <a:t> at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capacitance</a:t>
            </a:r>
            <a:r>
              <a:rPr lang="de-DE" dirty="0"/>
              <a:t> in parallel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current</a:t>
            </a:r>
            <a:r>
              <a:rPr lang="de-DE" dirty="0"/>
              <a:t> source. The </a:t>
            </a:r>
            <a:r>
              <a:rPr lang="de-DE" dirty="0" err="1"/>
              <a:t>bandwidth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starts</a:t>
            </a:r>
            <a:r>
              <a:rPr lang="de-DE" dirty="0"/>
              <a:t> at 1–10 MHz,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sufficient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topology</a:t>
            </a:r>
            <a:r>
              <a:rPr lang="de-DE" dirty="0"/>
              <a:t>. Material and </a:t>
            </a:r>
            <a:r>
              <a:rPr lang="de-DE" dirty="0" err="1"/>
              <a:t>wavelength</a:t>
            </a:r>
            <a:r>
              <a:rPr lang="de-DE" dirty="0"/>
              <a:t> do not matter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viewpoint</a:t>
            </a:r>
            <a:r>
              <a:rPr lang="de-DE" dirty="0"/>
              <a:t>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2435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testbed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and </a:t>
            </a:r>
            <a:r>
              <a:rPr lang="de-DE" dirty="0" err="1"/>
              <a:t>running</a:t>
            </a:r>
            <a:r>
              <a:rPr lang="de-DE" dirty="0"/>
              <a:t>.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photodiodes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modelled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deliberately</a:t>
            </a:r>
            <a:r>
              <a:rPr lang="de-DE" dirty="0"/>
              <a:t> </a:t>
            </a:r>
            <a:r>
              <a:rPr lang="de-DE" dirty="0" err="1"/>
              <a:t>asymmetric</a:t>
            </a:r>
            <a:r>
              <a:rPr lang="de-DE" dirty="0"/>
              <a:t> </a:t>
            </a:r>
            <a:r>
              <a:rPr lang="de-DE" dirty="0" err="1"/>
              <a:t>responsivities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balancing</a:t>
            </a:r>
            <a:r>
              <a:rPr lang="de-DE" dirty="0"/>
              <a:t>; </a:t>
            </a:r>
            <a:r>
              <a:rPr lang="de-DE" dirty="0" err="1"/>
              <a:t>the</a:t>
            </a:r>
            <a:r>
              <a:rPr lang="de-DE" dirty="0"/>
              <a:t> TIA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roughly</a:t>
            </a:r>
            <a:r>
              <a:rPr lang="de-DE" dirty="0"/>
              <a:t> 300 kHz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bandwidth</a:t>
            </a:r>
            <a:r>
              <a:rPr lang="de-DE" dirty="0"/>
              <a:t>; </a:t>
            </a:r>
            <a:r>
              <a:rPr lang="de-DE" dirty="0" err="1"/>
              <a:t>the</a:t>
            </a:r>
            <a:r>
              <a:rPr lang="de-DE" dirty="0"/>
              <a:t> auto-balance loop </a:t>
            </a:r>
            <a:r>
              <a:rPr lang="de-DE" dirty="0" err="1"/>
              <a:t>is</a:t>
            </a:r>
            <a:r>
              <a:rPr lang="de-DE" dirty="0"/>
              <a:t> a slow </a:t>
            </a:r>
            <a:r>
              <a:rPr lang="de-DE" dirty="0" err="1"/>
              <a:t>integrator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corner</a:t>
            </a:r>
            <a:r>
              <a:rPr lang="de-DE" dirty="0"/>
              <a:t> </a:t>
            </a:r>
            <a:r>
              <a:rPr lang="de-DE" dirty="0" err="1"/>
              <a:t>near</a:t>
            </a:r>
            <a:r>
              <a:rPr lang="de-DE" dirty="0"/>
              <a:t> 100 Hz, and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handle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restores</a:t>
            </a:r>
            <a:r>
              <a:rPr lang="de-DE" dirty="0"/>
              <a:t> </a:t>
            </a:r>
            <a:r>
              <a:rPr lang="de-DE" dirty="0" err="1"/>
              <a:t>balance</a:t>
            </a:r>
            <a:r>
              <a:rPr lang="de-DE" dirty="0"/>
              <a:t>. The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originally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received</a:t>
            </a:r>
            <a:r>
              <a:rPr lang="de-DE" dirty="0"/>
              <a:t> </a:t>
            </a:r>
            <a:r>
              <a:rPr lang="de-DE" dirty="0" err="1"/>
              <a:t>schematic</a:t>
            </a:r>
            <a:r>
              <a:rPr lang="de-DE" dirty="0"/>
              <a:t> was a </a:t>
            </a:r>
            <a:r>
              <a:rPr lang="de-DE" dirty="0" err="1"/>
              <a:t>placeholder</a:t>
            </a:r>
            <a:r>
              <a:rPr lang="de-DE" dirty="0"/>
              <a:t>; I </a:t>
            </a:r>
            <a:r>
              <a:rPr lang="de-DE" dirty="0" err="1"/>
              <a:t>replaced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realistic</a:t>
            </a:r>
            <a:r>
              <a:rPr lang="de-DE" dirty="0"/>
              <a:t> TLV9162,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recommends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First </a:t>
            </a:r>
            <a:r>
              <a:rPr lang="de-DE" dirty="0" err="1"/>
              <a:t>observations</a:t>
            </a:r>
            <a:r>
              <a:rPr lang="de-DE" dirty="0"/>
              <a:t>: </a:t>
            </a:r>
            <a:r>
              <a:rPr lang="de-DE" dirty="0" err="1"/>
              <a:t>the</a:t>
            </a:r>
            <a:r>
              <a:rPr lang="de-DE" dirty="0"/>
              <a:t> auto-balance loop </a:t>
            </a:r>
            <a:r>
              <a:rPr lang="de-DE" dirty="0" err="1"/>
              <a:t>nulls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DC </a:t>
            </a:r>
            <a:r>
              <a:rPr lang="de-DE" dirty="0" err="1"/>
              <a:t>asymmetry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. The 100 kHz probe I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stimulate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bootstrap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on </a:t>
            </a:r>
            <a:r>
              <a:rPr lang="de-DE" dirty="0" err="1"/>
              <a:t>several</a:t>
            </a:r>
            <a:r>
              <a:rPr lang="de-DE" dirty="0"/>
              <a:t> internal </a:t>
            </a:r>
            <a:r>
              <a:rPr lang="de-DE" dirty="0" err="1"/>
              <a:t>nodes</a:t>
            </a:r>
            <a:r>
              <a:rPr lang="de-DE" dirty="0"/>
              <a:t> —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consequence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loop </a:t>
            </a:r>
            <a:r>
              <a:rPr lang="de-DE" dirty="0" err="1"/>
              <a:t>dynamics</a:t>
            </a:r>
            <a:r>
              <a:rPr lang="de-DE" dirty="0"/>
              <a:t>, not a fault.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open </a:t>
            </a:r>
            <a:r>
              <a:rPr lang="de-DE" dirty="0" err="1"/>
              <a:t>is</a:t>
            </a:r>
            <a:r>
              <a:rPr lang="de-DE" dirty="0"/>
              <a:t> proper TIA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sizing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realistic</a:t>
            </a:r>
            <a:r>
              <a:rPr lang="de-DE" dirty="0"/>
              <a:t> APD </a:t>
            </a:r>
            <a:r>
              <a:rPr lang="de-DE" dirty="0" err="1"/>
              <a:t>currents</a:t>
            </a:r>
            <a:r>
              <a:rPr lang="de-DE" dirty="0"/>
              <a:t> and a quantitative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bootstrap-loop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691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fall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phases</a:t>
            </a:r>
            <a:r>
              <a:rPr lang="de-DE" dirty="0"/>
              <a:t>. First,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/>
              <a:t>design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: proper TIA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dirty="0" err="1"/>
              <a:t>sizing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-response design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bootstrap</a:t>
            </a:r>
            <a:r>
              <a:rPr lang="de-DE" dirty="0"/>
              <a:t> loop 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interaction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nested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, a quantitative CMRR-versus-loop-</a:t>
            </a:r>
            <a:r>
              <a:rPr lang="de-DE" dirty="0" err="1"/>
              <a:t>bandwidth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, and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selection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. This </a:t>
            </a:r>
            <a:r>
              <a:rPr lang="de-DE" dirty="0" err="1"/>
              <a:t>feeds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 err="1"/>
              <a:t>build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— a </a:t>
            </a:r>
            <a:r>
              <a:rPr lang="de-DE" dirty="0" err="1"/>
              <a:t>breadboard</a:t>
            </a:r>
            <a:r>
              <a:rPr lang="de-DE" dirty="0"/>
              <a:t> and </a:t>
            </a:r>
            <a:r>
              <a:rPr lang="de-DE" dirty="0" err="1"/>
              <a:t>then</a:t>
            </a:r>
            <a:r>
              <a:rPr lang="de-DE" dirty="0"/>
              <a:t> a PCB </a:t>
            </a:r>
            <a:r>
              <a:rPr lang="de-DE" dirty="0" err="1"/>
              <a:t>with</a:t>
            </a:r>
            <a:r>
              <a:rPr lang="de-DE" dirty="0"/>
              <a:t> a PIN and an APD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. </a:t>
            </a:r>
            <a:r>
              <a:rPr lang="de-DE" dirty="0" err="1"/>
              <a:t>Finally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i="1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: CMRR, </a:t>
            </a:r>
            <a:r>
              <a:rPr lang="de-DE" dirty="0" err="1"/>
              <a:t>bandwidth</a:t>
            </a:r>
            <a:r>
              <a:rPr lang="de-DE" dirty="0"/>
              <a:t>, and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, </a:t>
            </a:r>
            <a:r>
              <a:rPr lang="de-DE" dirty="0" err="1"/>
              <a:t>cross-validated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. </a:t>
            </a: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— </a:t>
            </a:r>
            <a:r>
              <a:rPr lang="de-DE" dirty="0" err="1"/>
              <a:t>I'm</a:t>
            </a:r>
            <a:r>
              <a:rPr lang="de-DE" dirty="0"/>
              <a:t> happy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questionsintr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A3166-A283-CC4E-8D32-D736071F4C9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13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28448" y="215900"/>
            <a:ext cx="1662875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0" y="1066800"/>
            <a:ext cx="12192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 lvl="0"/>
            <a:endParaRPr lang="en-US" noProof="0" dirty="0">
              <a:latin typeface="Arial" charset="0"/>
            </a:endParaRPr>
          </a:p>
        </p:txBody>
      </p:sp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17500" y="215900"/>
            <a:ext cx="3721325" cy="6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7500" y="2587625"/>
            <a:ext cx="11582400" cy="1492250"/>
          </a:xfrm>
        </p:spPr>
        <p:txBody>
          <a:bodyPr anchor="t"/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 sz="2000" b="1">
                <a:solidFill>
                  <a:srgbClr val="7B7B7B"/>
                </a:solidFill>
              </a:defRPr>
            </a:lvl1pPr>
          </a:lstStyle>
          <a:p>
            <a:r>
              <a:rPr lang="en-US" noProof="0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6554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45012"/>
            <a:ext cx="103632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844824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845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35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7625"/>
            <a:ext cx="11582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304800" y="1844824"/>
            <a:ext cx="5689600" cy="4098776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844824"/>
            <a:ext cx="5689600" cy="4098776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A13A0C-52DE-46EA-B853-8818B77DBFD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04801" y="1061318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1752FC3-073E-4259-A30C-1526FB887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0" y="1061318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510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7625"/>
            <a:ext cx="11582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304800" y="1219200"/>
            <a:ext cx="5689600" cy="4724400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19200"/>
            <a:ext cx="5689600" cy="4724400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464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514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28448" y="215900"/>
            <a:ext cx="1662875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0" y="1066800"/>
            <a:ext cx="12192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 lvl="0"/>
            <a:endParaRPr lang="en-US" noProof="0" dirty="0">
              <a:latin typeface="Arial" charset="0"/>
            </a:endParaRPr>
          </a:p>
        </p:txBody>
      </p:sp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17500" y="216138"/>
            <a:ext cx="3721327" cy="6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7500" y="2587625"/>
            <a:ext cx="11582400" cy="1492250"/>
          </a:xfrm>
        </p:spPr>
        <p:txBody>
          <a:bodyPr anchor="t"/>
          <a:lstStyle>
            <a:lvl1pPr algn="ctr">
              <a:defRPr sz="5000"/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 sz="2000" b="1">
                <a:solidFill>
                  <a:srgbClr val="7B7B7B"/>
                </a:solidFill>
              </a:defRPr>
            </a:lvl1pPr>
          </a:lstStyle>
          <a:p>
            <a:r>
              <a:rPr lang="en-US" noProof="0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7355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45012"/>
            <a:ext cx="103632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844824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673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159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7625"/>
            <a:ext cx="11582400" cy="6096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304800" y="1844824"/>
            <a:ext cx="5689600" cy="4098776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844824"/>
            <a:ext cx="5689600" cy="4098776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A13A0C-52DE-46EA-B853-8818B77DBFD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04801" y="1061318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1752FC3-073E-4259-A30C-1526FB887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600" y="1061318"/>
            <a:ext cx="5689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272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7625"/>
            <a:ext cx="11582400" cy="6096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 hasCustomPrompt="1"/>
          </p:nvPr>
        </p:nvSpPr>
        <p:spPr>
          <a:xfrm>
            <a:off x="304800" y="1219200"/>
            <a:ext cx="5689600" cy="4724400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19200"/>
            <a:ext cx="5689600" cy="4724400"/>
          </a:xfrm>
        </p:spPr>
        <p:txBody>
          <a:bodyPr/>
          <a:lstStyle>
            <a:lvl1pPr>
              <a:buSzPct val="85000"/>
              <a:defRPr/>
            </a:lvl1pPr>
            <a:lvl2pPr>
              <a:buSzPct val="85000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09418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80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AutoShape 14"/>
          <p:cNvSpPr>
            <a:spLocks noChangeArrowheads="1"/>
          </p:cNvSpPr>
          <p:nvPr/>
        </p:nvSpPr>
        <p:spPr bwMode="auto">
          <a:xfrm>
            <a:off x="11711657" y="6473975"/>
            <a:ext cx="324000" cy="323850"/>
          </a:xfrm>
          <a:prstGeom prst="roundRect">
            <a:avLst>
              <a:gd name="adj" fmla="val 0"/>
            </a:avLst>
          </a:prstGeom>
          <a:solidFill>
            <a:schemeClr val="folHlink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noProof="0" dirty="0">
              <a:latin typeface="Arial" charset="0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1568608" y="6482012"/>
            <a:ext cx="6110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fld id="{7B17EFE8-603A-419D-8388-4A5BB34440B3}" type="slidenum">
              <a:rPr lang="en-US" sz="1400" b="1" noProof="0" smtClean="0">
                <a:solidFill>
                  <a:schemeClr val="bg1"/>
                </a:solidFill>
                <a:latin typeface="Tahoma" charset="0"/>
              </a:rPr>
              <a:pPr algn="ctr">
                <a:defRPr/>
              </a:pPr>
              <a:t>‹Nr.›</a:t>
            </a:fld>
            <a:endParaRPr lang="en-US" sz="1400" b="1" noProof="0" dirty="0">
              <a:solidFill>
                <a:schemeClr val="bg1"/>
              </a:solidFill>
              <a:latin typeface="Tahoma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47625"/>
            <a:ext cx="1029761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1158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Sie</a:t>
            </a:r>
            <a:r>
              <a:rPr lang="en-US" noProof="0" dirty="0"/>
              <a:t>, um die </a:t>
            </a:r>
            <a:r>
              <a:rPr lang="en-US" noProof="0" dirty="0" err="1"/>
              <a:t>Formate</a:t>
            </a:r>
            <a:r>
              <a:rPr lang="en-US" noProof="0" dirty="0"/>
              <a:t> des </a:t>
            </a:r>
            <a:r>
              <a:rPr lang="en-US" noProof="0" dirty="0" err="1"/>
              <a:t>Vorlagentextes</a:t>
            </a:r>
            <a:r>
              <a:rPr lang="en-US" noProof="0" dirty="0"/>
              <a:t>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7B7B7B"/>
            </a:solidFill>
            <a:round/>
            <a:headEnd/>
            <a:tailEnd/>
          </a:ln>
          <a:effectLst/>
        </p:spPr>
        <p:txBody>
          <a:bodyPr/>
          <a:lstStyle/>
          <a:p>
            <a:pPr lvl="0"/>
            <a:endParaRPr lang="en-US" noProof="0" dirty="0">
              <a:latin typeface="Arial" charset="0"/>
            </a:endParaRPr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10735167" y="136425"/>
            <a:ext cx="1152033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5" descr="TU-Signet RGB">
            <a:extLst>
              <a:ext uri="{FF2B5EF4-FFF2-40B4-BE49-F238E27FC236}">
                <a16:creationId xmlns:a16="http://schemas.microsoft.com/office/drawing/2014/main" id="{9488486B-F350-4CBF-9FBF-12E1973F627E}"/>
              </a:ext>
            </a:extLst>
          </p:cNvPr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6424" y="6473825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AF7D4DE-4763-468C-A704-A4DA7DA8E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1" y="6418263"/>
            <a:ext cx="2755900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endParaRPr lang="en-US" sz="1200" b="1" noProof="0" dirty="0">
              <a:solidFill>
                <a:schemeClr val="bg2"/>
              </a:solidFill>
              <a:latin typeface="Tahoma" charset="0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B6B50C4D-33C4-4047-89CE-1F1CA9E05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400800"/>
            <a:ext cx="12192000" cy="0"/>
          </a:xfrm>
          <a:prstGeom prst="line">
            <a:avLst/>
          </a:prstGeom>
          <a:noFill/>
          <a:ln w="19050">
            <a:solidFill>
              <a:srgbClr val="7B7B7B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noProof="0" dirty="0">
              <a:latin typeface="Arial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E3EE3F9-DB39-4983-9B40-4DFF3C2E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687" y="6416676"/>
            <a:ext cx="5616626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180000" anchor="ctr"/>
          <a:lstStyle/>
          <a:p>
            <a:pPr algn="ctr">
              <a:defRPr/>
            </a:pPr>
            <a:r>
              <a:rPr lang="en-US" sz="1100" b="1" noProof="0" dirty="0">
                <a:solidFill>
                  <a:srgbClr val="7B7B7B"/>
                </a:solidFill>
                <a:latin typeface="+mn-lt"/>
              </a:rPr>
              <a:t>Development of a versatile auto-balanced Photodetector</a:t>
            </a:r>
            <a:r>
              <a:rPr lang="en-US" sz="1100" noProof="0" dirty="0">
                <a:solidFill>
                  <a:srgbClr val="7B7B7B"/>
                </a:solidFill>
                <a:latin typeface="+mn-lt"/>
              </a:rPr>
              <a:t>, Melvin Reka</a:t>
            </a:r>
            <a:br>
              <a:rPr lang="en-US" sz="1100" noProof="0" dirty="0">
                <a:solidFill>
                  <a:srgbClr val="7B7B7B"/>
                </a:solidFill>
                <a:latin typeface="+mn-lt"/>
              </a:rPr>
            </a:br>
            <a:r>
              <a:rPr lang="en-US" sz="1100" noProof="0" dirty="0">
                <a:solidFill>
                  <a:srgbClr val="7B7B7B"/>
                </a:solidFill>
                <a:latin typeface="+mn-lt"/>
              </a:rPr>
              <a:t>22 April 2026</a:t>
            </a:r>
          </a:p>
        </p:txBody>
      </p:sp>
    </p:spTree>
    <p:extLst>
      <p:ext uri="{BB962C8B-B14F-4D97-AF65-F5344CB8AC3E}">
        <p14:creationId xmlns:p14="http://schemas.microsoft.com/office/powerpoint/2010/main" val="137114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20000"/>
        </a:spcAft>
        <a:buClr>
          <a:schemeClr val="accent1"/>
        </a:buClr>
        <a:buSzPct val="95000"/>
        <a:buFont typeface="Wingdings 2" pitchFamily="18" charset="2"/>
        <a:buChar char="¾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20000"/>
        </a:spcAft>
        <a:buClr>
          <a:schemeClr val="folHlink"/>
        </a:buClr>
        <a:buSzPct val="95000"/>
        <a:buFont typeface="Wingdings 2" pitchFamily="18" charset="2"/>
        <a:buChar char="¾"/>
        <a:defRPr sz="22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20000"/>
        </a:spcAft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AutoShape 14"/>
          <p:cNvSpPr>
            <a:spLocks noChangeArrowheads="1"/>
          </p:cNvSpPr>
          <p:nvPr/>
        </p:nvSpPr>
        <p:spPr bwMode="auto">
          <a:xfrm>
            <a:off x="11711657" y="6473975"/>
            <a:ext cx="324000" cy="323850"/>
          </a:xfrm>
          <a:prstGeom prst="roundRect">
            <a:avLst>
              <a:gd name="adj" fmla="val 0"/>
            </a:avLst>
          </a:prstGeom>
          <a:solidFill>
            <a:schemeClr val="folHlink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noProof="0" dirty="0">
              <a:latin typeface="Arial" charset="0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1568608" y="6482012"/>
            <a:ext cx="6110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fld id="{7B17EFE8-603A-419D-8388-4A5BB34440B3}" type="slidenum">
              <a:rPr lang="en-US" sz="1400" b="1" noProof="0" smtClean="0">
                <a:solidFill>
                  <a:schemeClr val="bg1"/>
                </a:solidFill>
                <a:latin typeface="Tahoma" charset="0"/>
              </a:rPr>
              <a:pPr algn="ctr">
                <a:defRPr/>
              </a:pPr>
              <a:t>‹Nr.›</a:t>
            </a:fld>
            <a:endParaRPr lang="en-US" sz="1400" b="1" noProof="0" dirty="0">
              <a:solidFill>
                <a:schemeClr val="bg1"/>
              </a:solidFill>
              <a:latin typeface="Tahoma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47625"/>
            <a:ext cx="1029761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1158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Sie</a:t>
            </a:r>
            <a:r>
              <a:rPr lang="en-US" noProof="0" dirty="0"/>
              <a:t>, um die </a:t>
            </a:r>
            <a:r>
              <a:rPr lang="en-US" noProof="0" dirty="0" err="1"/>
              <a:t>Formate</a:t>
            </a:r>
            <a:r>
              <a:rPr lang="en-US" noProof="0" dirty="0"/>
              <a:t> des </a:t>
            </a:r>
            <a:r>
              <a:rPr lang="en-US" noProof="0" dirty="0" err="1"/>
              <a:t>Vorlagentextes</a:t>
            </a:r>
            <a:r>
              <a:rPr lang="en-US" noProof="0" dirty="0"/>
              <a:t>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7B7B7B"/>
            </a:solidFill>
            <a:round/>
            <a:headEnd/>
            <a:tailEnd/>
          </a:ln>
          <a:effectLst/>
        </p:spPr>
        <p:txBody>
          <a:bodyPr/>
          <a:lstStyle/>
          <a:p>
            <a:pPr lvl="0"/>
            <a:endParaRPr lang="en-US" noProof="0" dirty="0">
              <a:latin typeface="Arial" charset="0"/>
            </a:endParaRPr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10735167" y="136425"/>
            <a:ext cx="1152033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AF7D4DE-4763-468C-A704-A4DA7DA8E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1" y="6418263"/>
            <a:ext cx="2755900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endParaRPr lang="en-US" sz="1200" b="1" noProof="0" dirty="0">
              <a:solidFill>
                <a:schemeClr val="bg2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05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20000"/>
        </a:spcAft>
        <a:buClr>
          <a:schemeClr val="accent1"/>
        </a:buClr>
        <a:buSzPct val="95000"/>
        <a:buFont typeface="Wingdings 2" pitchFamily="18" charset="2"/>
        <a:buChar char="¾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20000"/>
        </a:spcAft>
        <a:buClr>
          <a:schemeClr val="folHlink"/>
        </a:buClr>
        <a:buSzPct val="95000"/>
        <a:buFont typeface="Wingdings 2" pitchFamily="18" charset="2"/>
        <a:buChar char="¾"/>
        <a:defRPr sz="22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20000"/>
        </a:spcAft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ualslib.com/manual/2916657/Thorlabs-Pdb4-Series.html" TargetMode="External"/><Relationship Id="rId2" Type="http://schemas.openxmlformats.org/officeDocument/2006/relationships/hyperlink" Target="https://commons.wikimedia.org/wiki/Category:Ocular_fundus#/media/File:Fundus_of_eye_normal.jpg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oheron.com/photonics/pd100b-photodetection/" TargetMode="External"/><Relationship Id="rId5" Type="http://schemas.openxmlformats.org/officeDocument/2006/relationships/hyperlink" Target="https://www.thorlabs.com/item/PDB430A-AC" TargetMode="External"/><Relationship Id="rId4" Type="http://schemas.openxmlformats.org/officeDocument/2006/relationships/hyperlink" Target="https://www.koheron.com/photonics/pd100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78A4-C717-4B85-B8F1-557A725BA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611679"/>
            <a:ext cx="11582400" cy="1492250"/>
          </a:xfrm>
        </p:spPr>
        <p:txBody>
          <a:bodyPr/>
          <a:lstStyle/>
          <a:p>
            <a:r>
              <a:rPr lang="en-US" sz="5400" dirty="0"/>
              <a:t>Development of a versatile </a:t>
            </a:r>
            <a:br>
              <a:rPr lang="en-US" sz="5400" dirty="0"/>
            </a:br>
            <a:r>
              <a:rPr lang="en-US" sz="5400" dirty="0"/>
              <a:t>auto-balanced Photodetector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43810-FDDF-4160-BF1D-33B49731693B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22 April </a:t>
            </a:r>
            <a:r>
              <a:rPr lang="de-AT" dirty="0"/>
              <a:t>2026</a:t>
            </a:r>
          </a:p>
          <a:p>
            <a:r>
              <a:rPr lang="en-US" dirty="0"/>
              <a:t>Melvin Reka</a:t>
            </a:r>
          </a:p>
          <a:p>
            <a:endParaRPr lang="en-US" dirty="0"/>
          </a:p>
          <a:p>
            <a:r>
              <a:rPr lang="en-US" sz="2000" kern="0" dirty="0"/>
              <a:t>Supervisor: Peter Vass, Maximillian </a:t>
            </a:r>
            <a:r>
              <a:rPr lang="en-US" sz="2000" kern="0" dirty="0" err="1"/>
              <a:t>Thier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57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50F18-88BE-9B63-7CAD-A223C58D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endParaRPr lang="de-DE" dirty="0"/>
          </a:p>
        </p:txBody>
      </p:sp>
      <p:pic>
        <p:nvPicPr>
          <p:cNvPr id="5" name="Inhaltsplatzhalter 4" descr="Ein Bild, das Kugel, Astronomisches Objekt, Planet, Sonne enthält.&#10;&#10;Automatisch generierte Beschreibung">
            <a:extLst>
              <a:ext uri="{FF2B5EF4-FFF2-40B4-BE49-F238E27FC236}">
                <a16:creationId xmlns:a16="http://schemas.microsoft.com/office/drawing/2014/main" id="{FD570ED3-FD60-66BA-5037-7EE4607E4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9949" y="724603"/>
            <a:ext cx="5382051" cy="40066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40B7121-4558-4E42-565F-1CF0E8996640}"/>
              </a:ext>
            </a:extLst>
          </p:cNvPr>
          <p:cNvSpPr txBox="1"/>
          <p:nvPr/>
        </p:nvSpPr>
        <p:spPr>
          <a:xfrm>
            <a:off x="6689558" y="4798619"/>
            <a:ext cx="5510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AT"/>
            </a:defPPr>
            <a:lvl1pPr>
              <a:defRPr b="0" i="0">
                <a:solidFill>
                  <a:srgbClr val="202122"/>
                </a:solidFill>
                <a:effectLst/>
              </a:defRPr>
            </a:lvl1pPr>
          </a:lstStyle>
          <a:p>
            <a:r>
              <a:rPr lang="de-DE" dirty="0"/>
              <a:t>An opthalmogram, an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 the fundus of an eye,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healthy</a:t>
            </a:r>
            <a:r>
              <a:rPr lang="de-DE" dirty="0"/>
              <a:t> human male (Source Wikipedia [1])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F663DC-3685-E51C-4EF6-EA551830ADA0}"/>
              </a:ext>
            </a:extLst>
          </p:cNvPr>
          <p:cNvSpPr txBox="1">
            <a:spLocks/>
          </p:cNvSpPr>
          <p:nvPr/>
        </p:nvSpPr>
        <p:spPr bwMode="auto">
          <a:xfrm>
            <a:off x="218173" y="997549"/>
            <a:ext cx="6432884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85000"/>
              <a:buFont typeface="Wingdings 2" pitchFamily="18" charset="2"/>
              <a:buChar char="¾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¾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20000"/>
              </a:spcAft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de-DE" b="1" dirty="0"/>
              <a:t>Laser </a:t>
            </a:r>
            <a:r>
              <a:rPr lang="de-DE" b="1" dirty="0" err="1"/>
              <a:t>noise</a:t>
            </a:r>
            <a:r>
              <a:rPr lang="de-DE" b="1" dirty="0"/>
              <a:t> </a:t>
            </a:r>
            <a:r>
              <a:rPr lang="de-DE" b="1" dirty="0" err="1"/>
              <a:t>cancellation</a:t>
            </a:r>
            <a:r>
              <a:rPr lang="de-DE" b="1" dirty="0"/>
              <a:t> </a:t>
            </a:r>
            <a:r>
              <a:rPr lang="de-DE" b="1" dirty="0" err="1"/>
              <a:t>spectroscopy</a:t>
            </a:r>
            <a:r>
              <a:rPr lang="de-DE" dirty="0"/>
              <a:t> 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absorption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on a </a:t>
            </a:r>
            <a:r>
              <a:rPr lang="de-DE" dirty="0" err="1"/>
              <a:t>noisy</a:t>
            </a:r>
            <a:r>
              <a:rPr lang="de-DE" dirty="0"/>
              <a:t> </a:t>
            </a:r>
            <a:r>
              <a:rPr lang="de-DE" dirty="0" err="1"/>
              <a:t>laser</a:t>
            </a:r>
            <a:endParaRPr lang="de-DE" dirty="0"/>
          </a:p>
          <a:p>
            <a:r>
              <a:rPr lang="de-DE" b="1" dirty="0"/>
              <a:t>Optical </a:t>
            </a:r>
            <a:r>
              <a:rPr lang="de-DE" b="1" dirty="0" err="1"/>
              <a:t>coherence</a:t>
            </a:r>
            <a:r>
              <a:rPr lang="de-DE" b="1" dirty="0"/>
              <a:t> </a:t>
            </a:r>
            <a:r>
              <a:rPr lang="de-DE" b="1" dirty="0" err="1"/>
              <a:t>tomography</a:t>
            </a:r>
            <a:r>
              <a:rPr lang="de-DE" b="1" dirty="0"/>
              <a:t> (OCT)</a:t>
            </a:r>
            <a:r>
              <a:rPr lang="de-DE" dirty="0"/>
              <a:t>  </a:t>
            </a:r>
            <a:r>
              <a:rPr lang="de-DE" dirty="0" err="1"/>
              <a:t>interferometric</a:t>
            </a:r>
            <a:r>
              <a:rPr lang="de-DE" dirty="0"/>
              <a:t>, </a:t>
            </a:r>
            <a:r>
              <a:rPr lang="de-DE" dirty="0" err="1"/>
              <a:t>strongly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dominated</a:t>
            </a:r>
            <a:r>
              <a:rPr lang="de-DE" dirty="0"/>
              <a:t> </a:t>
            </a:r>
          </a:p>
          <a:p>
            <a:r>
              <a:rPr lang="de-DE" b="1" dirty="0"/>
              <a:t>LIDAR front-</a:t>
            </a:r>
            <a:r>
              <a:rPr lang="de-DE" b="1" dirty="0" err="1"/>
              <a:t>ends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reflected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plus large </a:t>
            </a:r>
            <a:r>
              <a:rPr lang="de-DE" dirty="0" err="1"/>
              <a:t>background</a:t>
            </a:r>
            <a:r>
              <a:rPr lang="de-DE" dirty="0"/>
              <a:t> light </a:t>
            </a:r>
          </a:p>
          <a:p>
            <a:r>
              <a:rPr lang="de-DE" b="1" dirty="0"/>
              <a:t>Quantum / </a:t>
            </a:r>
            <a:r>
              <a:rPr lang="de-DE" b="1" dirty="0" err="1"/>
              <a:t>low</a:t>
            </a:r>
            <a:r>
              <a:rPr lang="de-DE" b="1" dirty="0"/>
              <a:t>-light </a:t>
            </a:r>
            <a:r>
              <a:rPr lang="de-DE" b="1" dirty="0" err="1"/>
              <a:t>detection</a:t>
            </a:r>
            <a:r>
              <a:rPr lang="de-DE" dirty="0"/>
              <a:t>  single-photon-level </a:t>
            </a:r>
            <a:r>
              <a:rPr lang="de-DE" dirty="0" err="1"/>
              <a:t>signals</a:t>
            </a:r>
            <a:r>
              <a:rPr lang="de-DE" dirty="0"/>
              <a:t>, </a:t>
            </a:r>
            <a:r>
              <a:rPr lang="de-DE" dirty="0" err="1"/>
              <a:t>laser</a:t>
            </a:r>
            <a:r>
              <a:rPr lang="de-DE" dirty="0"/>
              <a:t> </a:t>
            </a:r>
            <a:r>
              <a:rPr lang="de-DE" dirty="0" err="1"/>
              <a:t>excess</a:t>
            </a:r>
            <a:r>
              <a:rPr lang="de-DE" dirty="0"/>
              <a:t> </a:t>
            </a:r>
            <a:r>
              <a:rPr lang="de-DE" dirty="0" err="1"/>
              <a:t>noise</a:t>
            </a:r>
            <a:r>
              <a:rPr lang="de-DE" dirty="0"/>
              <a:t> </a:t>
            </a:r>
            <a:r>
              <a:rPr lang="de-DE" dirty="0" err="1"/>
              <a:t>dominates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8463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65801-00EB-B1D9-F372-A0905227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Common-mode </a:t>
            </a:r>
            <a:r>
              <a:rPr lang="de-DE" dirty="0" err="1"/>
              <a:t>rejection</a:t>
            </a:r>
            <a:r>
              <a:rPr lang="de-DE" dirty="0"/>
              <a:t> and </a:t>
            </a:r>
            <a:r>
              <a:rPr lang="de-DE" dirty="0" err="1"/>
              <a:t>flexibility</a:t>
            </a:r>
            <a:endParaRPr lang="de-DE" dirty="0"/>
          </a:p>
        </p:txBody>
      </p:sp>
      <p:pic>
        <p:nvPicPr>
          <p:cNvPr id="5" name="Inhaltsplatzhalter 4" descr="Ein Bild, das Diagramm, Text, Reihe, technische Zeichnung enthält.&#10;&#10;Automatisch generierte Beschreibung">
            <a:extLst>
              <a:ext uri="{FF2B5EF4-FFF2-40B4-BE49-F238E27FC236}">
                <a16:creationId xmlns:a16="http://schemas.microsoft.com/office/drawing/2014/main" id="{57EEF645-226E-51BE-8DB7-B92B4A11A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" y="738718"/>
            <a:ext cx="4839694" cy="559434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4AF436-36CA-CC4F-96B5-B64C78EB5B95}"/>
              </a:ext>
            </a:extLst>
          </p:cNvPr>
          <p:cNvSpPr txBox="1">
            <a:spLocks/>
          </p:cNvSpPr>
          <p:nvPr/>
        </p:nvSpPr>
        <p:spPr bwMode="auto">
          <a:xfrm>
            <a:off x="4871779" y="738718"/>
            <a:ext cx="7207926" cy="559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85000"/>
              <a:buFont typeface="Wingdings 2" pitchFamily="18" charset="2"/>
              <a:buChar char="¾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¾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20000"/>
              </a:spcAft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de-DE" i="1" dirty="0"/>
              <a:t>I = I₁ − I₂ = 2·I_AC</a:t>
            </a:r>
            <a:r>
              <a:rPr lang="de-DE" dirty="0"/>
              <a:t> → </a:t>
            </a:r>
            <a:r>
              <a:rPr lang="de-DE" dirty="0" err="1"/>
              <a:t>common</a:t>
            </a:r>
            <a:r>
              <a:rPr lang="de-DE" dirty="0"/>
              <a:t>-mode </a:t>
            </a:r>
            <a:r>
              <a:rPr lang="de-DE" dirty="0" err="1"/>
              <a:t>cancels</a:t>
            </a:r>
            <a:endParaRPr lang="de-DE" dirty="0"/>
          </a:p>
          <a:p>
            <a:r>
              <a:rPr lang="de-DE" dirty="0"/>
              <a:t>I1 and I2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b="1" dirty="0"/>
              <a:t>180° Phase </a:t>
            </a:r>
            <a:r>
              <a:rPr lang="de-DE" b="1" dirty="0" err="1"/>
              <a:t>shifted</a:t>
            </a:r>
            <a:endParaRPr lang="de-DE" b="1" dirty="0"/>
          </a:p>
          <a:p>
            <a:r>
              <a:rPr lang="de-DE" b="1" dirty="0"/>
              <a:t>PIN (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gain</a:t>
            </a:r>
            <a:r>
              <a:rPr lang="de-DE" b="1" dirty="0"/>
              <a:t>) vs. APD </a:t>
            </a:r>
            <a:r>
              <a:rPr lang="de-DE" dirty="0"/>
              <a:t>(internal </a:t>
            </a:r>
            <a:r>
              <a:rPr lang="de-DE" dirty="0" err="1"/>
              <a:t>gain</a:t>
            </a:r>
            <a:r>
              <a:rPr lang="de-DE" dirty="0"/>
              <a:t> </a:t>
            </a:r>
            <a:r>
              <a:rPr lang="de-DE" i="1" dirty="0"/>
              <a:t>M</a:t>
            </a:r>
            <a:r>
              <a:rPr lang="de-DE" dirty="0"/>
              <a:t>,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stable</a:t>
            </a:r>
            <a:r>
              <a:rPr lang="de-DE" dirty="0"/>
              <a:t> reverse </a:t>
            </a:r>
            <a:r>
              <a:rPr lang="de-DE" dirty="0" err="1"/>
              <a:t>bias</a:t>
            </a:r>
            <a:r>
              <a:rPr lang="de-DE" dirty="0"/>
              <a:t>)</a:t>
            </a:r>
          </a:p>
          <a:p>
            <a:r>
              <a:rPr lang="de-DE" b="1" dirty="0" err="1"/>
              <a:t>Wavelengths</a:t>
            </a:r>
            <a:r>
              <a:rPr lang="de-DE" b="1" dirty="0"/>
              <a:t> / </a:t>
            </a:r>
            <a:r>
              <a:rPr lang="de-DE" b="1" dirty="0" err="1"/>
              <a:t>materials</a:t>
            </a:r>
            <a:r>
              <a:rPr lang="de-DE" b="1" dirty="0"/>
              <a:t> </a:t>
            </a:r>
            <a:r>
              <a:rPr lang="de-DE" dirty="0"/>
              <a:t>(Si, </a:t>
            </a:r>
            <a:r>
              <a:rPr lang="de-DE" dirty="0" err="1"/>
              <a:t>InGaAs</a:t>
            </a:r>
            <a:r>
              <a:rPr lang="de-DE" dirty="0"/>
              <a:t>, …)</a:t>
            </a:r>
          </a:p>
          <a:p>
            <a:r>
              <a:rPr lang="de-DE" b="1" dirty="0" err="1"/>
              <a:t>Bandwidths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~1 MHz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100MHz</a:t>
            </a:r>
          </a:p>
          <a:p>
            <a:r>
              <a:rPr lang="de-DE" dirty="0"/>
              <a:t>Wide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effective</a:t>
            </a:r>
            <a:r>
              <a:rPr lang="de-DE" dirty="0"/>
              <a:t> </a:t>
            </a:r>
            <a:r>
              <a:rPr lang="de-DE" dirty="0" err="1"/>
              <a:t>responsivities</a:t>
            </a:r>
            <a:endParaRPr lang="de-DE" dirty="0"/>
          </a:p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all →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b="1" dirty="0"/>
              <a:t>flexible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2922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9783-9A56-F9EA-AD85-B815E263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2768B-72AA-E3D8-5BCA-E44E82B7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proposed</a:t>
            </a:r>
            <a:r>
              <a:rPr lang="de-DE" dirty="0"/>
              <a:t> </a:t>
            </a:r>
            <a:r>
              <a:rPr lang="de-DE" dirty="0" err="1"/>
              <a:t>topology</a:t>
            </a:r>
            <a:endParaRPr lang="de-DE" dirty="0"/>
          </a:p>
        </p:txBody>
      </p:sp>
      <p:pic>
        <p:nvPicPr>
          <p:cNvPr id="5" name="Inhaltsplatzhalter 4" descr="Ein Bild, das Diagramm, Text, Reihe, technische Zeichnung enthält.&#10;&#10;Automatisch generierte Beschreibung">
            <a:extLst>
              <a:ext uri="{FF2B5EF4-FFF2-40B4-BE49-F238E27FC236}">
                <a16:creationId xmlns:a16="http://schemas.microsoft.com/office/drawing/2014/main" id="{199691C2-6849-9330-3526-4E677537D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70" y="690593"/>
            <a:ext cx="4471212" cy="516841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B10D43-6B7C-1B17-3D60-C5F098ECE4C3}"/>
              </a:ext>
            </a:extLst>
          </p:cNvPr>
          <p:cNvSpPr txBox="1">
            <a:spLocks/>
          </p:cNvSpPr>
          <p:nvPr/>
        </p:nvSpPr>
        <p:spPr bwMode="auto">
          <a:xfrm>
            <a:off x="4871779" y="738718"/>
            <a:ext cx="7207926" cy="559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85000"/>
              <a:buFont typeface="Wingdings 2" pitchFamily="18" charset="2"/>
              <a:buChar char="¾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itchFamily="18" charset="2"/>
              <a:buChar char="¾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20000"/>
              </a:spcAft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de-DE" b="1" dirty="0" err="1"/>
              <a:t>Two</a:t>
            </a:r>
            <a:r>
              <a:rPr lang="de-DE" b="1" dirty="0"/>
              <a:t> </a:t>
            </a:r>
            <a:r>
              <a:rPr lang="de-DE" b="1" dirty="0" err="1"/>
              <a:t>photodiodes</a:t>
            </a:r>
            <a:r>
              <a:rPr lang="de-DE" b="1" dirty="0"/>
              <a:t> </a:t>
            </a:r>
            <a:r>
              <a:rPr lang="de-DE" b="1" dirty="0" err="1"/>
              <a:t>stacked</a:t>
            </a:r>
            <a:r>
              <a:rPr lang="de-DE" b="1" dirty="0"/>
              <a:t> </a:t>
            </a:r>
            <a:r>
              <a:rPr lang="de-DE" b="1" dirty="0" err="1"/>
              <a:t>between</a:t>
            </a:r>
            <a:r>
              <a:rPr lang="de-DE" b="1" dirty="0"/>
              <a:t> +HV and −HV</a:t>
            </a:r>
            <a:r>
              <a:rPr lang="de-DE" dirty="0"/>
              <a:t> —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, </a:t>
            </a:r>
            <a:r>
              <a:rPr lang="de-DE" dirty="0" err="1"/>
              <a:t>one</a:t>
            </a:r>
            <a:r>
              <a:rPr lang="de-DE" dirty="0"/>
              <a:t> </a:t>
            </a:r>
          </a:p>
          <a:p>
            <a:r>
              <a:rPr lang="de-DE" b="1" dirty="0" err="1"/>
              <a:t>Currents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i="1" dirty="0"/>
              <a:t>I₁ = I_DC + I_AC</a:t>
            </a:r>
            <a:r>
              <a:rPr lang="de-DE" dirty="0"/>
              <a:t> and </a:t>
            </a:r>
            <a:r>
              <a:rPr lang="de-DE" i="1" dirty="0"/>
              <a:t>I₂ = I_DC − I_AC</a:t>
            </a:r>
            <a:r>
              <a:rPr lang="de-DE" dirty="0"/>
              <a:t> (</a:t>
            </a:r>
            <a:r>
              <a:rPr lang="de-DE" dirty="0" err="1"/>
              <a:t>antiphase</a:t>
            </a:r>
            <a:r>
              <a:rPr lang="de-DE" dirty="0"/>
              <a:t> AC </a:t>
            </a:r>
            <a:r>
              <a:rPr lang="de-DE" dirty="0" err="1"/>
              <a:t>components</a:t>
            </a:r>
            <a:r>
              <a:rPr lang="de-DE" dirty="0"/>
              <a:t>)</a:t>
            </a:r>
          </a:p>
          <a:p>
            <a:r>
              <a:rPr lang="de-DE" b="1" dirty="0" err="1"/>
              <a:t>Summing</a:t>
            </a:r>
            <a:r>
              <a:rPr lang="de-DE" b="1" dirty="0"/>
              <a:t> </a:t>
            </a:r>
            <a:r>
              <a:rPr lang="de-DE" b="1" dirty="0" err="1"/>
              <a:t>node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i="1" dirty="0"/>
              <a:t>I = I₁ − I₂ = 2·I_AC</a:t>
            </a:r>
            <a:r>
              <a:rPr lang="de-DE" dirty="0"/>
              <a:t> → </a:t>
            </a:r>
            <a:r>
              <a:rPr lang="de-DE" dirty="0" err="1"/>
              <a:t>common</a:t>
            </a:r>
            <a:r>
              <a:rPr lang="de-DE" dirty="0"/>
              <a:t>-mode DC </a:t>
            </a:r>
            <a:r>
              <a:rPr lang="de-DE" dirty="0" err="1"/>
              <a:t>cancels</a:t>
            </a:r>
            <a:r>
              <a:rPr lang="de-DE" dirty="0"/>
              <a:t>;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TIA</a:t>
            </a:r>
          </a:p>
          <a:p>
            <a:r>
              <a:rPr lang="de-DE" b="1" dirty="0"/>
              <a:t>Control block → V_B1, V_B2</a:t>
            </a:r>
            <a:r>
              <a:rPr lang="de-DE" dirty="0"/>
              <a:t>: </a:t>
            </a:r>
            <a:r>
              <a:rPr lang="de-DE" dirty="0" err="1"/>
              <a:t>senses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front-end and </a:t>
            </a:r>
            <a:r>
              <a:rPr lang="de-DE" dirty="0" err="1"/>
              <a:t>drives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 err="1"/>
              <a:t>bootstrap</a:t>
            </a:r>
            <a:r>
              <a:rPr lang="de-DE" b="1" dirty="0"/>
              <a:t> / auto-balance </a:t>
            </a:r>
            <a:r>
              <a:rPr lang="de-DE" b="1" dirty="0" err="1"/>
              <a:t>mechanism</a:t>
            </a:r>
            <a:endParaRPr lang="en-US" kern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E54CB2-DA78-FD1B-F734-FA5E9D003076}"/>
              </a:ext>
            </a:extLst>
          </p:cNvPr>
          <p:cNvSpPr txBox="1"/>
          <p:nvPr/>
        </p:nvSpPr>
        <p:spPr>
          <a:xfrm>
            <a:off x="0" y="5768228"/>
            <a:ext cx="4745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Active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topology</a:t>
            </a:r>
            <a:r>
              <a:rPr lang="de-DE" dirty="0"/>
              <a:t> </a:t>
            </a:r>
            <a:r>
              <a:rPr lang="de-DE" dirty="0" err="1"/>
              <a:t>usable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different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943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2CF3B-FCF0-258E-58AF-9DA2DFA8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topology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F6BBC2-DCB0-2A43-CB7C-B584AF088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93" y="1793908"/>
            <a:ext cx="11511814" cy="3270183"/>
          </a:xfrm>
        </p:spPr>
        <p:txBody>
          <a:bodyPr/>
          <a:lstStyle/>
          <a:p>
            <a:r>
              <a:rPr lang="de-DE" dirty="0" err="1"/>
              <a:t>Photocurrents</a:t>
            </a:r>
            <a:r>
              <a:rPr lang="de-DE" dirty="0"/>
              <a:t> span </a:t>
            </a:r>
            <a:r>
              <a:rPr lang="de-DE" dirty="0" err="1"/>
              <a:t>orders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magnitude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supported</a:t>
            </a:r>
            <a:r>
              <a:rPr lang="de-DE" dirty="0"/>
              <a:t> </a:t>
            </a:r>
            <a:r>
              <a:rPr lang="de-DE" dirty="0" err="1"/>
              <a:t>diode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— large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  <a:p>
            <a:r>
              <a:rPr lang="de-DE" dirty="0"/>
              <a:t>Control loop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b="1" dirty="0"/>
              <a:t>fast </a:t>
            </a:r>
            <a:r>
              <a:rPr lang="de-DE" b="1" dirty="0" err="1"/>
              <a:t>enough</a:t>
            </a:r>
            <a:r>
              <a:rPr lang="de-DE" dirty="0"/>
              <a:t> not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attenuate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, </a:t>
            </a:r>
            <a:r>
              <a:rPr lang="de-DE" b="1" dirty="0"/>
              <a:t>slow </a:t>
            </a:r>
            <a:r>
              <a:rPr lang="de-DE" b="1" dirty="0" err="1"/>
              <a:t>enough</a:t>
            </a:r>
            <a:r>
              <a:rPr lang="de-DE" dirty="0"/>
              <a:t> not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destabilise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TIA</a:t>
            </a:r>
          </a:p>
          <a:p>
            <a:r>
              <a:rPr lang="de-DE" dirty="0"/>
              <a:t>Diode </a:t>
            </a:r>
            <a:r>
              <a:rPr lang="de-DE" dirty="0" err="1"/>
              <a:t>capacitance</a:t>
            </a:r>
            <a:r>
              <a:rPr lang="de-DE" dirty="0"/>
              <a:t> and </a:t>
            </a:r>
            <a:r>
              <a:rPr lang="de-DE" dirty="0" err="1"/>
              <a:t>parasitics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loop </a:t>
            </a:r>
            <a:r>
              <a:rPr lang="de-DE" dirty="0" err="1"/>
              <a:t>stability</a:t>
            </a:r>
            <a:r>
              <a:rPr lang="de-DE" dirty="0"/>
              <a:t> and </a:t>
            </a:r>
            <a:r>
              <a:rPr lang="de-DE" dirty="0" err="1"/>
              <a:t>bandwidth</a:t>
            </a:r>
            <a:endParaRPr lang="de-DE" dirty="0"/>
          </a:p>
          <a:p>
            <a:r>
              <a:rPr lang="de-DE" dirty="0" err="1"/>
              <a:t>Achievable</a:t>
            </a:r>
            <a:r>
              <a:rPr lang="de-DE" dirty="0"/>
              <a:t> CMRR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b="1" dirty="0" err="1"/>
              <a:t>matching</a:t>
            </a:r>
            <a:r>
              <a:rPr lang="de-DE" dirty="0"/>
              <a:t> </a:t>
            </a:r>
            <a:r>
              <a:rPr lang="de-DE" i="1" dirty="0"/>
              <a:t>and</a:t>
            </a:r>
            <a:r>
              <a:rPr lang="de-DE" dirty="0"/>
              <a:t> on </a:t>
            </a:r>
            <a:r>
              <a:rPr lang="de-DE" b="1" dirty="0"/>
              <a:t>loop </a:t>
            </a:r>
            <a:r>
              <a:rPr lang="de-DE" b="1" dirty="0" err="1"/>
              <a:t>bandwidth</a:t>
            </a:r>
            <a:endParaRPr lang="de-DE" b="1" dirty="0"/>
          </a:p>
          <a:p>
            <a:r>
              <a:rPr lang="de-DE" dirty="0"/>
              <a:t>Wide swing </a:t>
            </a:r>
            <a:r>
              <a:rPr lang="de-DE" dirty="0" err="1"/>
              <a:t>stresses</a:t>
            </a:r>
            <a:r>
              <a:rPr lang="de-DE" dirty="0"/>
              <a:t> </a:t>
            </a:r>
            <a:r>
              <a:rPr lang="de-DE" dirty="0" err="1"/>
              <a:t>op-amp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and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065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12114-57A5-817F-FA9F-52A05A7A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Commercial grade </a:t>
            </a:r>
            <a:r>
              <a:rPr lang="de-DE" dirty="0" err="1"/>
              <a:t>detectors</a:t>
            </a:r>
            <a:endParaRPr lang="de-DE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3141B631-5990-6B1F-FB83-F2D8DE102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714175"/>
              </p:ext>
            </p:extLst>
          </p:nvPr>
        </p:nvGraphicFramePr>
        <p:xfrm>
          <a:off x="334476" y="723742"/>
          <a:ext cx="11533475" cy="261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6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6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6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9396">
                <a:tc>
                  <a:txBody>
                    <a:bodyPr/>
                    <a:lstStyle/>
                    <a:p>
                      <a:r>
                        <a:rPr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CMRR (typ.)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Bandwidth (-3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396">
                <a:tc>
                  <a:txBody>
                    <a:bodyPr/>
                    <a:lstStyle/>
                    <a:p>
                      <a:r>
                        <a:rPr dirty="0"/>
                        <a:t>Thorlabs PDB430A / PDB430C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&gt;20 dB (typ. &gt;25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DC – 350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 / InGaAs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Thorlabs</a:t>
                      </a:r>
                      <a:r>
                        <a:rPr lang="de-DE" dirty="0"/>
                        <a:t> PDB4xx Series Datasheet[2]</a:t>
                      </a:r>
                    </a:p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214">
                <a:tc>
                  <a:txBody>
                    <a:bodyPr/>
                    <a:lstStyle/>
                    <a:p>
                      <a:r>
                        <a:rPr dirty="0" err="1"/>
                        <a:t>Koheron</a:t>
                      </a:r>
                      <a:r>
                        <a:rPr dirty="0"/>
                        <a:t> PD100B (auto-balanced)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&gt;30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up to ~200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Koheron</a:t>
                      </a:r>
                      <a:r>
                        <a:rPr lang="de-DE" dirty="0"/>
                        <a:t>, PD100B Datasheet [3]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46287781-F515-A4CE-6FB0-3884AC6E2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556" y="3338752"/>
            <a:ext cx="2618666" cy="2618666"/>
          </a:xfrm>
          <a:prstGeom prst="rect">
            <a:avLst/>
          </a:prstGeom>
        </p:spPr>
      </p:pic>
      <p:pic>
        <p:nvPicPr>
          <p:cNvPr id="8" name="Grafik 7" descr="Ein Bild, das Elektronik, Schaltung, Elektronisches Bauteil, Elektrisches Bauelement enthält.&#10;&#10;Automatisch generierte Beschreibung">
            <a:extLst>
              <a:ext uri="{FF2B5EF4-FFF2-40B4-BE49-F238E27FC236}">
                <a16:creationId xmlns:a16="http://schemas.microsoft.com/office/drawing/2014/main" id="{F1D77978-E531-ACCF-0771-009494E95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784" y="3338752"/>
            <a:ext cx="3604603" cy="270345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1C70CA9-4023-F1E3-F4C8-03C80E04ABD2}"/>
              </a:ext>
            </a:extLst>
          </p:cNvPr>
          <p:cNvSpPr txBox="1"/>
          <p:nvPr/>
        </p:nvSpPr>
        <p:spPr>
          <a:xfrm>
            <a:off x="334476" y="5857538"/>
            <a:ext cx="11054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photodetectors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differential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. </a:t>
            </a:r>
            <a:r>
              <a:rPr lang="de-DE" dirty="0" err="1"/>
              <a:t>Left</a:t>
            </a:r>
            <a:r>
              <a:rPr lang="de-DE" dirty="0"/>
              <a:t>: </a:t>
            </a:r>
            <a:r>
              <a:rPr lang="de-DE" dirty="0" err="1"/>
              <a:t>Thorlabs</a:t>
            </a:r>
            <a:r>
              <a:rPr lang="de-DE" dirty="0"/>
              <a:t> [4], Right: </a:t>
            </a:r>
            <a:r>
              <a:rPr lang="de-DE" dirty="0" err="1"/>
              <a:t>Koheron</a:t>
            </a:r>
            <a:r>
              <a:rPr lang="de-DE" dirty="0"/>
              <a:t> PD100B[5]</a:t>
            </a:r>
          </a:p>
        </p:txBody>
      </p:sp>
    </p:spTree>
    <p:extLst>
      <p:ext uri="{BB962C8B-B14F-4D97-AF65-F5344CB8AC3E}">
        <p14:creationId xmlns:p14="http://schemas.microsoft.com/office/powerpoint/2010/main" val="297136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techniques  what the literature tells us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200000" y="1100000"/>
            <a:ext cx="6800000" cy="5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85000"/>
              <a:buFont typeface="Wingdings 2" pitchFamily="18" charset="2"/>
              <a:buChar char="¾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b="1" dirty="0"/>
              <a:t>Flying rails principle:</a:t>
            </a:r>
            <a:r>
              <a:rPr lang="en-US" dirty="0"/>
              <a:t> local op-amp supply follows </a:t>
            </a:r>
            <a:r>
              <a:rPr lang="en-US" dirty="0" err="1"/>
              <a:t>V_out</a:t>
            </a:r>
            <a:r>
              <a:rPr lang="en-US" dirty="0"/>
              <a:t>; large effective swing from low-voltage op-amp </a:t>
            </a:r>
            <a:r>
              <a:rPr lang="en-US" i="1" dirty="0"/>
              <a:t>(AN-1593 [6], Jung EDN [7])</a:t>
            </a:r>
          </a:p>
          <a:p>
            <a:r>
              <a:rPr lang="en-US" b="1" dirty="0"/>
              <a:t>Loop speed &gt; signal speed:</a:t>
            </a:r>
            <a:r>
              <a:rPr lang="en-US" dirty="0"/>
              <a:t> FET gate C + bias R form a low-pass; decoupling goes between transistor bases, not to ground</a:t>
            </a:r>
          </a:p>
          <a:p>
            <a:r>
              <a:rPr lang="en-US" b="1" dirty="0"/>
              <a:t>Op-amp criteria:</a:t>
            </a:r>
            <a:r>
              <a:rPr lang="en-US" dirty="0"/>
              <a:t> supply range, CM close to rails, slew rate, low bias current, no phase reversal </a:t>
            </a:r>
            <a:r>
              <a:rPr lang="en-US" i="1" dirty="0"/>
              <a:t>(TLV9162: 16 V max)</a:t>
            </a:r>
          </a:p>
          <a:p>
            <a:r>
              <a:rPr lang="en-US" b="1" dirty="0"/>
              <a:t>High-impedance care:</a:t>
            </a:r>
            <a:r>
              <a:rPr lang="en-US" dirty="0"/>
              <a:t> guarding, shield bootstrapping, dielectric choice </a:t>
            </a:r>
            <a:r>
              <a:rPr lang="en-US" i="1" dirty="0"/>
              <a:t>(AN-241 [8])</a:t>
            </a:r>
          </a:p>
          <a:p>
            <a:r>
              <a:rPr lang="en-US" b="1" dirty="0"/>
              <a:t>Proven in hardware:</a:t>
            </a:r>
            <a:r>
              <a:rPr lang="en-US" dirty="0"/>
              <a:t> 50 </a:t>
            </a:r>
            <a:r>
              <a:rPr lang="en-US" dirty="0" err="1"/>
              <a:t>Vpp</a:t>
            </a:r>
            <a:r>
              <a:rPr lang="en-US" dirty="0"/>
              <a:t> @ 1 MHz with 3 op-amps; series R for capacitive loads </a:t>
            </a:r>
            <a:r>
              <a:rPr lang="en-US" i="1" dirty="0"/>
              <a:t>(TIDUEW8 [10])</a:t>
            </a:r>
          </a:p>
        </p:txBody>
      </p:sp>
      <p:pic>
        <p:nvPicPr>
          <p:cNvPr id="8" name="Inhaltsplatzhalter 7" descr="Ein Bild, das Diagramm, Text, Reihe, Screenshot enthält.&#10;&#10;Automatisch generierte Beschreibung">
            <a:extLst>
              <a:ext uri="{FF2B5EF4-FFF2-40B4-BE49-F238E27FC236}">
                <a16:creationId xmlns:a16="http://schemas.microsoft.com/office/drawing/2014/main" id="{1FAC3279-B7FD-ED44-3031-C2C63FEC7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802" t="7204" r="8416" b="4806"/>
          <a:stretch/>
        </p:blipFill>
        <p:spPr>
          <a:xfrm>
            <a:off x="0" y="1280710"/>
            <a:ext cx="5263361" cy="4054208"/>
          </a:xfrm>
        </p:spPr>
      </p:pic>
    </p:spTree>
    <p:extLst>
      <p:ext uri="{BB962C8B-B14F-4D97-AF65-F5344CB8AC3E}">
        <p14:creationId xmlns:p14="http://schemas.microsoft.com/office/powerpoint/2010/main" val="365943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486400"/>
          </a:xfrm>
        </p:spPr>
        <p:txBody>
          <a:bodyPr anchor="t"/>
          <a:lstStyle>
            <a:lvl1pPr>
              <a:spcBef>
                <a:spcPct val="15000"/>
              </a:spcBef>
              <a:defRPr sz="2000"/>
            </a:lvl1pPr>
            <a:lvl2pPr>
              <a:spcBef>
                <a:spcPct val="10000"/>
              </a:spcBef>
              <a:defRPr sz="1800"/>
            </a:lvl2pPr>
          </a:lstStyle>
          <a:p>
            <a:pPr lvl="0"/>
            <a:r>
              <a:rPr lang="en-US" b="1" dirty="0"/>
              <a:t>Main question:</a:t>
            </a:r>
            <a:r>
              <a:rPr lang="en-US" dirty="0"/>
              <a:t> Can a </a:t>
            </a:r>
            <a:r>
              <a:rPr lang="en-US" dirty="0" err="1"/>
              <a:t>bootstrapbased</a:t>
            </a:r>
            <a:r>
              <a:rPr lang="en-US" dirty="0"/>
              <a:t> auto-balanced front-end serve as a </a:t>
            </a:r>
            <a:r>
              <a:rPr lang="en-US" i="1" dirty="0"/>
              <a:t>single, flexible</a:t>
            </a:r>
            <a:r>
              <a:rPr lang="en-US" dirty="0"/>
              <a:t> topology for a wide range of photodiodes (PIN and APD) with useful CMRR and bandwidth?</a:t>
            </a:r>
          </a:p>
          <a:p>
            <a:pPr lvl="1"/>
            <a:r>
              <a:rPr lang="en-US" dirty="0"/>
              <a:t>How does the bootstrap loop bandwidth affect the achievable CMRR?</a:t>
            </a:r>
          </a:p>
          <a:p>
            <a:pPr lvl="1"/>
            <a:r>
              <a:rPr lang="en-US" dirty="0"/>
              <a:t>Does the APD reverse bias remain constant under bootstrapping?</a:t>
            </a:r>
          </a:p>
          <a:p>
            <a:pPr lvl="1"/>
            <a:r>
              <a:rPr lang="en-US" dirty="0"/>
              <a:t>How do diode capacitance and </a:t>
            </a:r>
            <a:r>
              <a:rPr lang="en-US" dirty="0" err="1"/>
              <a:t>parasitics</a:t>
            </a:r>
            <a:r>
              <a:rPr lang="en-US" dirty="0"/>
              <a:t> influence loop stability?</a:t>
            </a:r>
          </a:p>
          <a:p>
            <a:pPr lvl="1"/>
            <a:r>
              <a:rPr lang="en-US" dirty="0"/>
              <a:t>Can the auto-balance mechanism compensate asymmetries without distorting the signal?</a:t>
            </a:r>
          </a:p>
          <a:p>
            <a:pPr lvl="0"/>
            <a:r>
              <a:rPr lang="en-US" b="1" dirty="0"/>
              <a:t>Scope / working assumptions:</a:t>
            </a:r>
          </a:p>
          <a:p>
            <a:pPr lvl="1"/>
            <a:r>
              <a:rPr lang="en-US" dirty="0"/>
              <a:t>Target different PIN / APD diodes, modelled as current source with ‖ capacitance</a:t>
            </a:r>
          </a:p>
          <a:p>
            <a:pPr lvl="1"/>
            <a:r>
              <a:rPr lang="en-US" dirty="0"/>
              <a:t>Bandwidth target: 1–10 MHz initially; extension to hundreds of MHz out of scope</a:t>
            </a:r>
          </a:p>
          <a:p>
            <a:pPr lvl="1"/>
            <a:r>
              <a:rPr lang="en-US" dirty="0"/>
              <a:t>Focus: topology &amp; dynamic </a:t>
            </a:r>
            <a:r>
              <a:rPr lang="en-US" dirty="0" err="1"/>
              <a:t>behaviour</a:t>
            </a:r>
            <a:r>
              <a:rPr lang="en-US" dirty="0"/>
              <a:t>, not a specific optical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365943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0" y="47625"/>
            <a:ext cx="11582400" cy="6096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Simulation setup and first observations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04800" y="1219200"/>
            <a:ext cx="568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eaLnBrk="1" fontAlgn="base" hangingPunct="1">
              <a:spcBef>
                <a:spcPct val="15000"/>
              </a:spcBef>
              <a:spcAft>
                <a:spcPct val="10000"/>
              </a:spcAft>
              <a:buClr>
                <a:schemeClr val="accent1"/>
              </a:buClr>
              <a:buSzPct val="85000"/>
              <a:buFont typeface="Wingdings 2" pitchFamily="18" charset="2"/>
              <a:buChar char="¾"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900" b="1" dirty="0"/>
              <a:t>Setup:</a:t>
            </a:r>
            <a:r>
              <a:rPr lang="en-US" sz="1900" dirty="0"/>
              <a:t> TIA (AD8028) </a:t>
            </a:r>
            <a:r>
              <a:rPr lang="en-US" sz="1900" dirty="0" err="1"/>
              <a:t>R_f</a:t>
            </a:r>
            <a:r>
              <a:rPr lang="en-US" sz="1900" dirty="0"/>
              <a:t> = 1 </a:t>
            </a:r>
            <a:r>
              <a:rPr lang="en-US" sz="1900" dirty="0" err="1"/>
              <a:t>kΩ</a:t>
            </a:r>
            <a:r>
              <a:rPr lang="en-US" sz="1900" dirty="0"/>
              <a:t>, </a:t>
            </a:r>
            <a:r>
              <a:rPr lang="en-US" sz="1900" dirty="0" err="1"/>
              <a:t>C_f</a:t>
            </a:r>
            <a:r>
              <a:rPr lang="en-US" sz="1900" dirty="0"/>
              <a:t> = 500 pF → BW ≈ 318 kHz; </a:t>
            </a:r>
            <a:r>
              <a:rPr lang="en-US" sz="1900" dirty="0" err="1"/>
              <a:t>autobalance</a:t>
            </a:r>
            <a:r>
              <a:rPr lang="en-US" sz="1900" dirty="0"/>
              <a:t> integrator (TLV9162) </a:t>
            </a:r>
            <a:r>
              <a:rPr lang="en-US" sz="1900" dirty="0" err="1"/>
              <a:t>τ</a:t>
            </a:r>
            <a:r>
              <a:rPr lang="en-US" sz="1900" dirty="0"/>
              <a:t> ≈ 1.59 </a:t>
            </a:r>
            <a:r>
              <a:rPr lang="en-US" sz="1900" dirty="0" err="1"/>
              <a:t>ms</a:t>
            </a:r>
            <a:r>
              <a:rPr lang="en-US" sz="1900" dirty="0"/>
              <a:t> → corner ≈ 100 Hz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900" b="1" dirty="0"/>
              <a:t>Diode models:</a:t>
            </a:r>
            <a:r>
              <a:rPr lang="en-US" sz="1900" dirty="0"/>
              <a:t> current sources with deliberate asymmetry (0.4 vs. 0.35 A/W) to test balancing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900" b="1" dirty="0"/>
              <a:t>Observation 1:</a:t>
            </a:r>
            <a:r>
              <a:rPr lang="en-US" sz="1900" dirty="0"/>
              <a:t> </a:t>
            </a:r>
            <a:r>
              <a:rPr lang="en-US" sz="1900" dirty="0" err="1"/>
              <a:t>autobalance</a:t>
            </a:r>
            <a:r>
              <a:rPr lang="en-US" sz="1900" dirty="0"/>
              <a:t> loop nulls the DC offset between the two diode currents as expected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900" b="1" dirty="0"/>
              <a:t>Observation 2:</a:t>
            </a:r>
            <a:r>
              <a:rPr lang="en-US" sz="1900" dirty="0"/>
              <a:t> 100 kHz probe signal propagates across internal nodes (V_PBS, V_NBS)  a consequence of loop dynamics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900" b="1" dirty="0"/>
              <a:t>Still open:</a:t>
            </a:r>
            <a:r>
              <a:rPr lang="en-US" sz="1900" dirty="0"/>
              <a:t> TIA gain sizing for realistic APD currents; quantitative frequency-response analysis of bootstrap loop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C83C1FF-8C06-E318-6B2A-7374429FF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094" y="1712089"/>
            <a:ext cx="6131827" cy="34338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943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Diagramm, Reihe, Steigung enthält.&#10;&#10;Automatisch generierte Beschreibung">
            <a:extLst>
              <a:ext uri="{FF2B5EF4-FFF2-40B4-BE49-F238E27FC236}">
                <a16:creationId xmlns:a16="http://schemas.microsoft.com/office/drawing/2014/main" id="{3B8C6573-FE4E-081B-F0A6-65EB49B92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466" t="8401" r="10052" b="4740"/>
          <a:stretch/>
        </p:blipFill>
        <p:spPr>
          <a:xfrm>
            <a:off x="1527665" y="707833"/>
            <a:ext cx="9136670" cy="5442333"/>
          </a:xfrm>
          <a:noFill/>
        </p:spPr>
      </p:pic>
    </p:spTree>
    <p:extLst>
      <p:ext uri="{BB962C8B-B14F-4D97-AF65-F5344CB8AC3E}">
        <p14:creationId xmlns:p14="http://schemas.microsoft.com/office/powerpoint/2010/main" val="189438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steps: design, build,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486400"/>
          </a:xfrm>
        </p:spPr>
        <p:txBody>
          <a:bodyPr anchor="t"/>
          <a:lstStyle>
            <a:lvl1pPr>
              <a:spcBef>
                <a:spcPct val="20000"/>
              </a:spcBef>
              <a:defRPr sz="2200"/>
            </a:lvl1pPr>
            <a:lvl2pPr>
              <a:spcBef>
                <a:spcPct val="10000"/>
              </a:spcBef>
              <a:defRPr sz="1800"/>
            </a:lvl2pPr>
          </a:lstStyle>
          <a:p>
            <a:pPr lvl="0"/>
            <a:r>
              <a:rPr lang="en-US" b="1" dirty="0">
                <a:solidFill>
                  <a:schemeClr val="accent1"/>
                </a:solidFill>
              </a:rPr>
              <a:t>Design</a:t>
            </a:r>
          </a:p>
          <a:p>
            <a:pPr lvl="1"/>
            <a:r>
              <a:rPr lang="en-US" dirty="0"/>
              <a:t>Dimension TIA gain for realistic APD photocurrents</a:t>
            </a:r>
          </a:p>
          <a:p>
            <a:pPr lvl="1"/>
            <a:r>
              <a:rPr lang="en-US" dirty="0"/>
              <a:t>Frequency-response design of bootstrap / </a:t>
            </a:r>
            <a:r>
              <a:rPr lang="en-US" dirty="0" err="1"/>
              <a:t>autobalance</a:t>
            </a:r>
            <a:r>
              <a:rPr lang="en-US" dirty="0"/>
              <a:t> loop analyse two nested loops</a:t>
            </a:r>
          </a:p>
          <a:p>
            <a:pPr lvl="1"/>
            <a:r>
              <a:rPr lang="en-US" dirty="0"/>
              <a:t>Quantify CMRR as a function of loop bandwidth</a:t>
            </a:r>
          </a:p>
          <a:p>
            <a:pPr lvl="1"/>
            <a:r>
              <a:rPr lang="en-US" dirty="0"/>
              <a:t>Evaluate op-amp candidates against supply / slew / phase-reversal criteria</a:t>
            </a:r>
          </a:p>
          <a:p>
            <a:pPr lvl="0"/>
            <a:r>
              <a:rPr lang="en-US" b="1" dirty="0">
                <a:solidFill>
                  <a:schemeClr val="accent1"/>
                </a:solidFill>
              </a:rPr>
              <a:t>Build</a:t>
            </a:r>
          </a:p>
          <a:p>
            <a:pPr lvl="1"/>
            <a:r>
              <a:rPr lang="en-US" dirty="0" err="1"/>
              <a:t>Perfboard</a:t>
            </a:r>
            <a:r>
              <a:rPr lang="en-US" dirty="0"/>
              <a:t> → PCB implementation with selected op-amps and one PIN + one APD from available devices</a:t>
            </a:r>
          </a:p>
          <a:p>
            <a:pPr lvl="0"/>
            <a:r>
              <a:rPr lang="en-US" b="1" dirty="0">
                <a:solidFill>
                  <a:schemeClr val="accent1"/>
                </a:solidFill>
              </a:rPr>
              <a:t>Measure</a:t>
            </a:r>
          </a:p>
          <a:p>
            <a:pPr lvl="1"/>
            <a:r>
              <a:rPr lang="en-US" dirty="0"/>
              <a:t>Characterise CMRR, bandwidth, bias stability under optical excitation</a:t>
            </a:r>
          </a:p>
          <a:p>
            <a:pPr lvl="1"/>
            <a:r>
              <a:rPr lang="en-US" dirty="0"/>
              <a:t>Cross-validate against simulation predictions</a:t>
            </a:r>
          </a:p>
        </p:txBody>
      </p:sp>
    </p:spTree>
    <p:extLst>
      <p:ext uri="{BB962C8B-B14F-4D97-AF65-F5344CB8AC3E}">
        <p14:creationId xmlns:p14="http://schemas.microsoft.com/office/powerpoint/2010/main" val="365943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60AD9-06EF-52DF-6FE7-D86EC6F1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ADBAB9-E636-B73F-6C07-2549D3823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14400"/>
            <a:ext cx="11887200" cy="5486400"/>
          </a:xfrm>
        </p:spPr>
        <p:txBody>
          <a:bodyPr anchor="t"/>
          <a:lstStyle>
            <a:lvl1pPr>
              <a:spcBef>
                <a:spcPct val="10000"/>
              </a:spcBef>
              <a:spcAft>
                <a:spcPct val="0"/>
              </a:spcAft>
              <a:defRPr sz="1400"/>
            </a:lvl1pPr>
          </a:lstStyle>
          <a:p>
            <a:r>
              <a:rPr lang="de-DE" dirty="0"/>
              <a:t>[1] Wikimedia Commons, 'Fundus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eye</a:t>
            </a:r>
            <a:r>
              <a:rPr lang="de-DE" dirty="0"/>
              <a:t> (normal)', </a:t>
            </a:r>
            <a:r>
              <a:rPr lang="de-DE" dirty="0">
                <a:hlinkClick r:id="rId2"/>
              </a:rPr>
              <a:t>https://commons.wikimedia.org/wiki/Category:Ocular_fundus#/media/File:Fundus_of_eye_normal.jpg</a:t>
            </a:r>
            <a:endParaRPr lang="de-DE" dirty="0"/>
          </a:p>
          <a:p>
            <a:r>
              <a:rPr lang="de-DE" dirty="0"/>
              <a:t>[2] </a:t>
            </a:r>
            <a:r>
              <a:rPr lang="de-DE" dirty="0" err="1"/>
              <a:t>Thorlabs</a:t>
            </a:r>
            <a:r>
              <a:rPr lang="de-DE" dirty="0"/>
              <a:t> Inc., PDB4xx Series Datasheet, </a:t>
            </a:r>
            <a:r>
              <a:rPr lang="de-DE" dirty="0">
                <a:hlinkClick r:id="rId3"/>
              </a:rPr>
              <a:t>https://www.manualslib.com/manual/2916657/Thorlabs-Pdb4-Series.html</a:t>
            </a:r>
            <a:endParaRPr lang="de-DE" dirty="0"/>
          </a:p>
          <a:p>
            <a:r>
              <a:rPr lang="de-DE" dirty="0"/>
              <a:t>[3] </a:t>
            </a:r>
            <a:r>
              <a:rPr lang="de-DE" dirty="0" err="1"/>
              <a:t>Koheron</a:t>
            </a:r>
            <a:r>
              <a:rPr lang="de-DE" dirty="0"/>
              <a:t>, PD100B </a:t>
            </a:r>
            <a:r>
              <a:rPr lang="de-DE" dirty="0" err="1"/>
              <a:t>Photodetector</a:t>
            </a:r>
            <a:r>
              <a:rPr lang="de-DE" dirty="0"/>
              <a:t>, </a:t>
            </a:r>
            <a:r>
              <a:rPr lang="de-DE" dirty="0">
                <a:hlinkClick r:id="rId4"/>
              </a:rPr>
              <a:t>https://www.koheron.com/photonics/pd100b/</a:t>
            </a:r>
            <a:endParaRPr lang="de-DE" dirty="0"/>
          </a:p>
          <a:p>
            <a:r>
              <a:rPr lang="de-DE" dirty="0"/>
              <a:t>[4] </a:t>
            </a:r>
            <a:r>
              <a:rPr lang="de-DE" dirty="0" err="1"/>
              <a:t>Thorlabs</a:t>
            </a:r>
            <a:r>
              <a:rPr lang="de-DE" dirty="0"/>
              <a:t> Inc., "PDB430A-AC </a:t>
            </a:r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Photodetector</a:t>
            </a:r>
            <a:r>
              <a:rPr lang="de-DE" dirty="0"/>
              <a:t>", </a:t>
            </a:r>
            <a:r>
              <a:rPr lang="de-DE" dirty="0">
                <a:hlinkClick r:id="rId5"/>
              </a:rPr>
              <a:t>https://www.thorlabs.com/item/PDB430A-AC</a:t>
            </a:r>
            <a:r>
              <a:rPr lang="de-DE" dirty="0"/>
              <a:t>, </a:t>
            </a:r>
            <a:r>
              <a:rPr lang="de-DE" dirty="0" err="1"/>
              <a:t>accessed</a:t>
            </a:r>
            <a:r>
              <a:rPr lang="de-DE" dirty="0"/>
              <a:t> 21. April 2026.</a:t>
            </a:r>
          </a:p>
          <a:p>
            <a:r>
              <a:rPr lang="de-DE" dirty="0"/>
              <a:t>[5] </a:t>
            </a:r>
            <a:r>
              <a:rPr lang="de-DE" dirty="0" err="1"/>
              <a:t>Koheron</a:t>
            </a:r>
            <a:r>
              <a:rPr lang="de-DE" dirty="0"/>
              <a:t>, "PD100B </a:t>
            </a:r>
            <a:r>
              <a:rPr lang="de-DE" dirty="0" err="1"/>
              <a:t>Photodetector</a:t>
            </a:r>
            <a:r>
              <a:rPr lang="de-DE" dirty="0"/>
              <a:t>", </a:t>
            </a:r>
            <a:r>
              <a:rPr lang="de-DE" dirty="0">
                <a:hlinkClick r:id="rId6"/>
              </a:rPr>
              <a:t>https://www.koheron.com/photonics/pd100b-photodetection/</a:t>
            </a:r>
            <a:r>
              <a:rPr lang="de-DE" dirty="0"/>
              <a:t>, </a:t>
            </a:r>
            <a:r>
              <a:rPr lang="de-DE" dirty="0" err="1"/>
              <a:t>accessed</a:t>
            </a:r>
            <a:r>
              <a:rPr lang="de-DE" dirty="0"/>
              <a:t> 21. April 2026.</a:t>
            </a:r>
          </a:p>
          <a:p>
            <a:r>
              <a:rPr lang="en-US" dirty="0"/>
              <a:t>[6] W. Jung, "Bootstrapping your op amp yields wide voltage swings", EDN Network, 2006.</a:t>
            </a:r>
          </a:p>
          <a:p>
            <a:r>
              <a:rPr lang="en-US" dirty="0"/>
              <a:t>[7] Texas Instruments, "AN-1593: Extending Op Amp Operating Range via Bootstrapping" (SNAA049).</a:t>
            </a:r>
          </a:p>
          <a:p>
            <a:r>
              <a:rPr lang="en-US" dirty="0"/>
              <a:t>[8] Texas Instruments, "AN-241: Working with High Impedance Op Amps" (SNOA664).</a:t>
            </a:r>
          </a:p>
          <a:p>
            <a:r>
              <a:rPr lang="en-US" dirty="0"/>
              <a:t>[9] Texas Instruments, "AN-20: An Applications Guide for Op Amps" (SNOA621).</a:t>
            </a:r>
          </a:p>
          <a:p>
            <a:r>
              <a:rPr lang="en-US" dirty="0"/>
              <a:t>[10] Texas Instruments, "Bootstrap High-Output Voltage-Extension Reference Design" (TIDUEW8), 2020. https://www.ti.com/lit/ug/tiduew8/tiduew8.pdf</a:t>
            </a:r>
          </a:p>
        </p:txBody>
      </p:sp>
    </p:spTree>
    <p:extLst>
      <p:ext uri="{BB962C8B-B14F-4D97-AF65-F5344CB8AC3E}">
        <p14:creationId xmlns:p14="http://schemas.microsoft.com/office/powerpoint/2010/main" val="860130735"/>
      </p:ext>
    </p:extLst>
  </p:cSld>
  <p:clrMapOvr>
    <a:masterClrMapping/>
  </p:clrMapOvr>
</p:sld>
</file>

<file path=ppt/theme/theme1.xml><?xml version="1.0" encoding="utf-8"?>
<a:theme xmlns:a="http://schemas.openxmlformats.org/drawingml/2006/main" name="MPEI_Master_Logo_Text">
  <a:themeElements>
    <a:clrScheme name="MPEI 1">
      <a:dk1>
        <a:srgbClr val="000000"/>
      </a:dk1>
      <a:lt1>
        <a:srgbClr val="FFFFFF"/>
      </a:lt1>
      <a:dk2>
        <a:srgbClr val="000000"/>
      </a:dk2>
      <a:lt2>
        <a:srgbClr val="7B7B7B"/>
      </a:lt2>
      <a:accent1>
        <a:srgbClr val="ED6B21"/>
      </a:accent1>
      <a:accent2>
        <a:srgbClr val="006699"/>
      </a:accent2>
      <a:accent3>
        <a:srgbClr val="FFFFFF"/>
      </a:accent3>
      <a:accent4>
        <a:srgbClr val="000000"/>
      </a:accent4>
      <a:accent5>
        <a:srgbClr val="F9CDB5"/>
      </a:accent5>
      <a:accent6>
        <a:srgbClr val="FFCC66"/>
      </a:accent6>
      <a:hlink>
        <a:srgbClr val="006699"/>
      </a:hlink>
      <a:folHlink>
        <a:srgbClr val="B2B2B2"/>
      </a:folHlink>
    </a:clrScheme>
    <a:fontScheme name="ACIN_Standar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IN_Präsentatio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IN_Prä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A122B"/>
        </a:accent1>
        <a:accent2>
          <a:srgbClr val="006699"/>
        </a:accent2>
        <a:accent3>
          <a:srgbClr val="FFFFFF"/>
        </a:accent3>
        <a:accent4>
          <a:srgbClr val="000000"/>
        </a:accent4>
        <a:accent5>
          <a:srgbClr val="D9AAAC"/>
        </a:accent5>
        <a:accent6>
          <a:srgbClr val="005C8A"/>
        </a:accent6>
        <a:hlink>
          <a:srgbClr val="00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PEI_Master_Logo_Text" id="{422EFE8B-D7AE-40EF-A746-F6678D92BAA9}" vid="{79D9B5E8-6A3B-4421-8531-9CA806DF9D37}"/>
    </a:ext>
  </a:extLst>
</a:theme>
</file>

<file path=ppt/theme/theme2.xml><?xml version="1.0" encoding="utf-8"?>
<a:theme xmlns:a="http://schemas.openxmlformats.org/drawingml/2006/main" name="MPEI_Master_no_footer">
  <a:themeElements>
    <a:clrScheme name="MPEI 1">
      <a:dk1>
        <a:srgbClr val="000000"/>
      </a:dk1>
      <a:lt1>
        <a:srgbClr val="FFFFFF"/>
      </a:lt1>
      <a:dk2>
        <a:srgbClr val="000000"/>
      </a:dk2>
      <a:lt2>
        <a:srgbClr val="7B7B7B"/>
      </a:lt2>
      <a:accent1>
        <a:srgbClr val="ED6B21"/>
      </a:accent1>
      <a:accent2>
        <a:srgbClr val="006699"/>
      </a:accent2>
      <a:accent3>
        <a:srgbClr val="FFFFFF"/>
      </a:accent3>
      <a:accent4>
        <a:srgbClr val="000000"/>
      </a:accent4>
      <a:accent5>
        <a:srgbClr val="F9CDB5"/>
      </a:accent5>
      <a:accent6>
        <a:srgbClr val="FFCC66"/>
      </a:accent6>
      <a:hlink>
        <a:srgbClr val="006699"/>
      </a:hlink>
      <a:folHlink>
        <a:srgbClr val="B2B2B2"/>
      </a:folHlink>
    </a:clrScheme>
    <a:fontScheme name="ACIN_Standar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IN_Präsentatio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IN_Prä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IN_Präsentatio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A122B"/>
        </a:accent1>
        <a:accent2>
          <a:srgbClr val="006699"/>
        </a:accent2>
        <a:accent3>
          <a:srgbClr val="FFFFFF"/>
        </a:accent3>
        <a:accent4>
          <a:srgbClr val="000000"/>
        </a:accent4>
        <a:accent5>
          <a:srgbClr val="D9AAAC"/>
        </a:accent5>
        <a:accent6>
          <a:srgbClr val="005C8A"/>
        </a:accent6>
        <a:hlink>
          <a:srgbClr val="00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PEI_Master2" id="{8DF33BB0-51DE-497F-B67D-E01C50507BC5}" vid="{1BCBB6C5-C46D-4C58-8278-A41C26966B70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MPEI_Master_Logo_Text</Template>
  <TotalTime>0</TotalTime>
  <Words>2526</Words>
  <Application>Microsoft Macintosh PowerPoint</Application>
  <PresentationFormat>Breitbild</PresentationFormat>
  <Paragraphs>112</Paragraphs>
  <Slides>12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Wingdings 2</vt:lpstr>
      <vt:lpstr>Aptos</vt:lpstr>
      <vt:lpstr>Arial</vt:lpstr>
      <vt:lpstr>Times New Roman</vt:lpstr>
      <vt:lpstr>Segoe UI</vt:lpstr>
      <vt:lpstr>Tahoma</vt:lpstr>
      <vt:lpstr>MPEI_Master_Logo_Text</vt:lpstr>
      <vt:lpstr>MPEI_Master_no_footer</vt:lpstr>
      <vt:lpstr>Development of a versatile  auto-balanced Photodetector </vt:lpstr>
      <vt:lpstr>Applications</vt:lpstr>
      <vt:lpstr>Common-mode rejection and flexibility</vt:lpstr>
      <vt:lpstr>Our proposed topology</vt:lpstr>
      <vt:lpstr>Challenges of this topology</vt:lpstr>
      <vt:lpstr>Commercial grade detectors</vt:lpstr>
      <vt:lpstr>Bootstrap techniques  what the literature tells us</vt:lpstr>
      <vt:lpstr>Research question and scope</vt:lpstr>
      <vt:lpstr>Simulation setup and first observations</vt:lpstr>
      <vt:lpstr>PowerPoint-Präsentation</vt:lpstr>
      <vt:lpstr>Next steps: design, build, measure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 Woong Yoo</dc:creator>
  <cp:lastModifiedBy>Reka, Melvin</cp:lastModifiedBy>
  <cp:revision>15</cp:revision>
  <dcterms:created xsi:type="dcterms:W3CDTF">2025-09-26T09:23:46Z</dcterms:created>
  <dcterms:modified xsi:type="dcterms:W3CDTF">2026-04-21T23:40:42Z</dcterms:modified>
</cp:coreProperties>
</file>